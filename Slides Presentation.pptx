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1"/>
  </p:notesMasterIdLst>
  <p:sldIdLst>
    <p:sldId id="256" r:id="rId2"/>
    <p:sldId id="312" r:id="rId3"/>
    <p:sldId id="257" r:id="rId4"/>
    <p:sldId id="319" r:id="rId5"/>
    <p:sldId id="314" r:id="rId6"/>
    <p:sldId id="315" r:id="rId7"/>
    <p:sldId id="316" r:id="rId8"/>
    <p:sldId id="317" r:id="rId9"/>
    <p:sldId id="318" r:id="rId10"/>
  </p:sldIdLst>
  <p:sldSz cx="9144000" cy="5143500" type="screen16x9"/>
  <p:notesSz cx="6858000" cy="9144000"/>
  <p:embeddedFontLst>
    <p:embeddedFont>
      <p:font typeface="Barlow" pitchFamily="2" charset="77"/>
      <p:regular r:id="rId12"/>
      <p:bold r:id="rId13"/>
      <p:italic r:id="rId14"/>
      <p:boldItalic r:id="rId15"/>
    </p:embeddedFont>
    <p:embeddedFont>
      <p:font typeface="Nunito Light" pitchFamily="2" charset="77"/>
      <p:regular r:id="rId16"/>
      <p:italic r:id="rId17"/>
    </p:embeddedFont>
    <p:embeddedFont>
      <p:font typeface="Poppins Black" panose="00000A00000000000000" pitchFamily="2" charset="77"/>
      <p:bold r:id="rId18"/>
      <p:italic r:id="rId19"/>
      <p:boldItalic r:id="rId20"/>
    </p:embeddedFont>
    <p:embeddedFont>
      <p:font typeface="Poppins ExtraBold" panose="00000900000000000000" pitchFamily="2" charset="77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F1E1E0-D463-4661-AD2E-C649CA6CAA8D}" v="29" dt="2026-05-30T13:37:59.836"/>
  </p1510:revLst>
</p1510:revInfo>
</file>

<file path=ppt/tableStyles.xml><?xml version="1.0" encoding="utf-8"?>
<a:tblStyleLst xmlns:a="http://schemas.openxmlformats.org/drawingml/2006/main" def="{A2050ACF-7ECF-4B61-9BE6-5AA3A0698BA7}">
  <a:tblStyle styleId="{A2050ACF-7ECF-4B61-9BE6-5AA3A0698B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FD3B4D-3FA9-4E67-8777-DCF6D5892B9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2" autoAdjust="0"/>
    <p:restoredTop sz="94579"/>
  </p:normalViewPr>
  <p:slideViewPr>
    <p:cSldViewPr snapToGrid="0">
      <p:cViewPr varScale="1">
        <p:scale>
          <a:sx n="153" d="100"/>
          <a:sy n="153" d="100"/>
        </p:scale>
        <p:origin x="79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D6D21360-C57D-8C4A-D794-CFFF6B3AA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817215DA-C292-F82E-6BDF-DA978DAC2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740DFA0C-4B62-3B30-C25A-6741B487C5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9428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49D231AA-D4BC-0748-7413-771711E00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10E6F6E4-D078-9199-B38B-FD71334553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1049504E-B0AF-39DC-9D32-060FDBC729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0160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872148EB-FD91-48FE-04C1-1AE0100E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7BD60779-87BE-8D98-4676-EECD08C25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0551FA84-0F1B-59BE-C645-4BF2B6291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3806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A2907059-B5CC-D1B5-860A-9AEA06A25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A4E1B97F-2689-4684-E06A-21F64B8D1D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E7DBEEFE-9607-BA83-0911-75CCE2525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250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04AD49BE-55EB-630D-EA45-66821DF2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6322A174-CF08-EF48-7753-42356612FE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B0150C7C-318A-DCD8-3B60-1285517113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2148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DE38F2C2-2D93-C2BB-7334-53F45AD74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D21865B2-0AA4-228F-080C-A5228F5A9A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8493C58A-DE2D-41D3-56AB-7560547CCD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4655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95081587-035F-D531-B3B6-284570CAE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5D6324DF-06C1-A0D6-8833-934CE90FF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8C932D2F-76C5-0C12-3C8B-377F7E358C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367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10800000" flipH="1">
              <a:off x="-522276" y="-13020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7" r:id="rId4"/>
    <p:sldLayoutId id="2147483678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TPAMI.2014.230641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6"/>
          <p:cNvSpPr txBox="1">
            <a:spLocks noGrp="1"/>
          </p:cNvSpPr>
          <p:nvPr>
            <p:ph type="subTitle" idx="1"/>
          </p:nvPr>
        </p:nvSpPr>
        <p:spPr>
          <a:xfrm>
            <a:off x="3301235" y="3740523"/>
            <a:ext cx="2541529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Sander Soares – 2022164</a:t>
            </a:r>
          </a:p>
          <a:p>
            <a:pPr marL="0" lvl="0" indent="0"/>
            <a:r>
              <a:rPr lang="en" dirty="0"/>
              <a:t>Thiago Gon</a:t>
            </a:r>
            <a:r>
              <a:rPr lang="en-IE" dirty="0"/>
              <a:t>ç</a:t>
            </a:r>
            <a:r>
              <a:rPr lang="en" dirty="0"/>
              <a:t>alves - 2022161</a:t>
            </a:r>
            <a:endParaRPr dirty="0"/>
          </a:p>
        </p:txBody>
      </p:sp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551007" y="1801002"/>
            <a:ext cx="8337621" cy="19732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LIGHTWEIGHT  NETWORK  IDS USING  MACHINE  LEARNING  FOR  CYBERATTACK CLASSIFICATION</a:t>
            </a:r>
            <a:endParaRPr sz="4000"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75464" y="60535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7E2EEBE8-94AA-A250-7E3E-89ED7561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A3855B8E-2245-CAB2-DEA7-465154D7BF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CRISP -DM FRAMEWORK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173DCC-4D91-167A-15B1-C90A7FC90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1" y="948605"/>
            <a:ext cx="3537699" cy="3537699"/>
          </a:xfrm>
          <a:prstGeom prst="rect">
            <a:avLst/>
          </a:prstGeom>
        </p:spPr>
      </p:pic>
      <p:sp>
        <p:nvSpPr>
          <p:cNvPr id="5" name="Google Shape;1037;p46">
            <a:extLst>
              <a:ext uri="{FF2B5EF4-FFF2-40B4-BE49-F238E27FC236}">
                <a16:creationId xmlns:a16="http://schemas.microsoft.com/office/drawing/2014/main" id="{013D271E-1BEC-C720-FBDC-FF89A42F7508}"/>
              </a:ext>
            </a:extLst>
          </p:cNvPr>
          <p:cNvSpPr txBox="1">
            <a:spLocks/>
          </p:cNvSpPr>
          <p:nvPr/>
        </p:nvSpPr>
        <p:spPr>
          <a:xfrm>
            <a:off x="3690861" y="1035189"/>
            <a:ext cx="2350200" cy="1096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b="1" dirty="0"/>
              <a:t>Business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Identify cybersecurity challenges faced by </a:t>
            </a:r>
            <a:r>
              <a:rPr lang="en-IE" sz="1000" b="1" dirty="0"/>
              <a:t>SMEs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Analyse the need for a Lightweight and affordable </a:t>
            </a:r>
            <a:r>
              <a:rPr lang="en-IE" sz="1000" b="1" dirty="0"/>
              <a:t>IDS </a:t>
            </a:r>
            <a:r>
              <a:rPr lang="en-IE" sz="1000" dirty="0"/>
              <a:t>Solution</a:t>
            </a:r>
          </a:p>
        </p:txBody>
      </p:sp>
      <p:sp>
        <p:nvSpPr>
          <p:cNvPr id="7" name="Google Shape;1037;p46">
            <a:extLst>
              <a:ext uri="{FF2B5EF4-FFF2-40B4-BE49-F238E27FC236}">
                <a16:creationId xmlns:a16="http://schemas.microsoft.com/office/drawing/2014/main" id="{70E378F4-4F5B-6C7F-F48A-6C394ECCCBC0}"/>
              </a:ext>
            </a:extLst>
          </p:cNvPr>
          <p:cNvSpPr txBox="1">
            <a:spLocks/>
          </p:cNvSpPr>
          <p:nvPr/>
        </p:nvSpPr>
        <p:spPr>
          <a:xfrm>
            <a:off x="3690861" y="2169334"/>
            <a:ext cx="2350200" cy="1096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b="1" dirty="0"/>
              <a:t>Data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Analyse the </a:t>
            </a:r>
            <a:r>
              <a:rPr lang="en-IE" sz="1000" b="1" dirty="0"/>
              <a:t>CICIDS 2017 </a:t>
            </a:r>
            <a:r>
              <a:rPr lang="en-IE" sz="1000" dirty="0"/>
              <a:t>Dataset structure and traffic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Perform </a:t>
            </a:r>
            <a:r>
              <a:rPr lang="en-IE" sz="1000" b="1" dirty="0"/>
              <a:t>EDA</a:t>
            </a:r>
            <a:r>
              <a:rPr lang="en-IE" sz="1000" dirty="0"/>
              <a:t> and correlation analysis</a:t>
            </a:r>
          </a:p>
        </p:txBody>
      </p:sp>
      <p:sp>
        <p:nvSpPr>
          <p:cNvPr id="8" name="Google Shape;1037;p46">
            <a:extLst>
              <a:ext uri="{FF2B5EF4-FFF2-40B4-BE49-F238E27FC236}">
                <a16:creationId xmlns:a16="http://schemas.microsoft.com/office/drawing/2014/main" id="{8B77D246-E64C-5DAF-4E75-F1036EB25B32}"/>
              </a:ext>
            </a:extLst>
          </p:cNvPr>
          <p:cNvSpPr txBox="1">
            <a:spLocks/>
          </p:cNvSpPr>
          <p:nvPr/>
        </p:nvSpPr>
        <p:spPr>
          <a:xfrm>
            <a:off x="3690861" y="3273187"/>
            <a:ext cx="2350200" cy="9269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b="1" dirty="0"/>
              <a:t>Data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Apply label encoding and feature/target separation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Create dataset strategies for Modelling </a:t>
            </a:r>
          </a:p>
        </p:txBody>
      </p:sp>
      <p:sp>
        <p:nvSpPr>
          <p:cNvPr id="9" name="Google Shape;1037;p46">
            <a:extLst>
              <a:ext uri="{FF2B5EF4-FFF2-40B4-BE49-F238E27FC236}">
                <a16:creationId xmlns:a16="http://schemas.microsoft.com/office/drawing/2014/main" id="{4C84A4D4-B284-0FF4-7182-00BA97BFA02E}"/>
              </a:ext>
            </a:extLst>
          </p:cNvPr>
          <p:cNvSpPr txBox="1">
            <a:spLocks/>
          </p:cNvSpPr>
          <p:nvPr/>
        </p:nvSpPr>
        <p:spPr>
          <a:xfrm>
            <a:off x="6533228" y="1896926"/>
            <a:ext cx="2350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b="1" dirty="0"/>
              <a:t>Modelling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Train Logistic Regression, Decision Tree, and Random Forest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Analyse their performance and computational efficiency</a:t>
            </a:r>
          </a:p>
          <a:p>
            <a:r>
              <a:rPr lang="en-IE" sz="1000" dirty="0"/>
              <a:t>	</a:t>
            </a:r>
          </a:p>
        </p:txBody>
      </p:sp>
      <p:sp>
        <p:nvSpPr>
          <p:cNvPr id="10" name="Google Shape;1037;p46">
            <a:extLst>
              <a:ext uri="{FF2B5EF4-FFF2-40B4-BE49-F238E27FC236}">
                <a16:creationId xmlns:a16="http://schemas.microsoft.com/office/drawing/2014/main" id="{68E5CA68-80BF-F692-2E11-E5FA9B082E86}"/>
              </a:ext>
            </a:extLst>
          </p:cNvPr>
          <p:cNvSpPr txBox="1">
            <a:spLocks/>
          </p:cNvSpPr>
          <p:nvPr/>
        </p:nvSpPr>
        <p:spPr>
          <a:xfrm>
            <a:off x="6533228" y="2169334"/>
            <a:ext cx="2350200" cy="1096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b="1" dirty="0"/>
              <a:t>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Evaluate models using accuracy, precision, recall, and </a:t>
            </a:r>
            <a:r>
              <a:rPr lang="en-IE" sz="1000" b="1" dirty="0"/>
              <a:t>macro F1-score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Select the most suitable model</a:t>
            </a:r>
          </a:p>
          <a:p>
            <a:r>
              <a:rPr lang="en-IE" sz="1000" dirty="0"/>
              <a:t>	</a:t>
            </a:r>
          </a:p>
        </p:txBody>
      </p:sp>
      <p:sp>
        <p:nvSpPr>
          <p:cNvPr id="11" name="Google Shape;1037;p46">
            <a:extLst>
              <a:ext uri="{FF2B5EF4-FFF2-40B4-BE49-F238E27FC236}">
                <a16:creationId xmlns:a16="http://schemas.microsoft.com/office/drawing/2014/main" id="{7E9738C5-8250-9BB7-492C-0355DD458590}"/>
              </a:ext>
            </a:extLst>
          </p:cNvPr>
          <p:cNvSpPr txBox="1">
            <a:spLocks/>
          </p:cNvSpPr>
          <p:nvPr/>
        </p:nvSpPr>
        <p:spPr>
          <a:xfrm>
            <a:off x="6533228" y="3265576"/>
            <a:ext cx="2350200" cy="1096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b="1" dirty="0"/>
              <a:t>Deployment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Propose a lightweight Streamlit dashboard prototype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1000" dirty="0"/>
              <a:t>Allow traffic upload and prediction visualisation</a:t>
            </a:r>
          </a:p>
          <a:p>
            <a:r>
              <a:rPr lang="en-IE" sz="1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31045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/>
          <p:cNvSpPr txBox="1">
            <a:spLocks noGrp="1"/>
          </p:cNvSpPr>
          <p:nvPr>
            <p:ph type="title"/>
          </p:nvPr>
        </p:nvSpPr>
        <p:spPr>
          <a:xfrm>
            <a:off x="701528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UNDERSTANDING</a:t>
            </a:r>
            <a:endParaRPr dirty="0"/>
          </a:p>
        </p:txBody>
      </p:sp>
      <p:graphicFrame>
        <p:nvGraphicFramePr>
          <p:cNvPr id="800" name="Google Shape;800;p37"/>
          <p:cNvGraphicFramePr/>
          <p:nvPr>
            <p:extLst>
              <p:ext uri="{D42A27DB-BD31-4B8C-83A1-F6EECF244321}">
                <p14:modId xmlns:p14="http://schemas.microsoft.com/office/powerpoint/2010/main" val="2907196785"/>
              </p:ext>
            </p:extLst>
          </p:nvPr>
        </p:nvGraphicFramePr>
        <p:xfrm>
          <a:off x="720000" y="1497382"/>
          <a:ext cx="7703999" cy="2148736"/>
        </p:xfrm>
        <a:graphic>
          <a:graphicData uri="http://schemas.openxmlformats.org/drawingml/2006/table">
            <a:tbl>
              <a:tblPr>
                <a:noFill/>
                <a:tableStyleId>{A2050ACF-7ECF-4B61-9BE6-5AA3A0698BA7}</a:tableStyleId>
              </a:tblPr>
              <a:tblGrid>
                <a:gridCol w="2451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2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Problem</a:t>
                      </a:r>
                      <a:endParaRPr sz="14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E" sz="11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SMEs and small organisations often do not have dedicated cybersecurity teams, making suspicious traffic harder to detect in </a:t>
                      </a:r>
                      <a:r>
                        <a:rPr lang="en-IE" sz="1100" b="0" i="0" u="none" strike="noStrike" cap="none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time 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latin typeface="Barlow"/>
                          <a:ea typeface="Arial"/>
                          <a:cs typeface="Arial"/>
                          <a:sym typeface="Arial"/>
                        </a:rPr>
                        <a:t>(Forde, 2025)</a:t>
                      </a:r>
                      <a:r>
                        <a:rPr lang="en-IE" sz="1100" b="0" i="0" u="none" strike="noStrike" cap="none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Market Need</a:t>
                      </a:r>
                      <a:endParaRPr sz="14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E" sz="11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 lightweight IDS can support IT administrators and MSP technicians by reducing manual log analysis and improving visibility of possible attacks (</a:t>
                      </a:r>
                      <a:r>
                        <a:rPr lang="en-IE" sz="1100" b="0" i="0" u="none" strike="noStrike" cap="none" dirty="0">
                          <a:solidFill>
                            <a:schemeClr val="dk1"/>
                          </a:solidFill>
                          <a:latin typeface="Barlow"/>
                          <a:sym typeface="Arial"/>
                        </a:rPr>
                        <a:t>Zamani ,2022)</a:t>
                      </a:r>
                      <a:r>
                        <a:rPr lang="en-IE" sz="1100" b="0" i="0" u="none" strike="noStrike" cap="none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Business Goal</a:t>
                      </a:r>
                      <a:endParaRPr sz="14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E" sz="11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Develop a practical machine learning prototype to classify network traffic as benign or attack traffic.</a:t>
                      </a:r>
                      <a:endParaRPr sz="11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1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Success Criteria</a:t>
                      </a:r>
                      <a:endParaRPr sz="14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E" sz="11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Strong model performance, low runtime, interpretability, good attack coverage and a simple dashboard for prediction summaries.</a:t>
                      </a:r>
                      <a:endParaRPr sz="11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AFE28111-C2A3-694A-EB35-605169DA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FADB5E25-B8FB-78E3-7D06-52A77EC79C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2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E" dirty="0"/>
              <a:t>DATA UNDERSTANDING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8E67C8-49A6-2B2C-BA03-E1D11A9A0D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8"/>
          <a:stretch>
            <a:fillRect/>
          </a:stretch>
        </p:blipFill>
        <p:spPr bwMode="auto">
          <a:xfrm>
            <a:off x="105195" y="785807"/>
            <a:ext cx="3111486" cy="18872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Google Shape;1037;p46">
            <a:extLst>
              <a:ext uri="{FF2B5EF4-FFF2-40B4-BE49-F238E27FC236}">
                <a16:creationId xmlns:a16="http://schemas.microsoft.com/office/drawing/2014/main" id="{7195184E-82A9-B7FF-4FB7-A8125F7E2C91}"/>
              </a:ext>
            </a:extLst>
          </p:cNvPr>
          <p:cNvSpPr txBox="1">
            <a:spLocks/>
          </p:cNvSpPr>
          <p:nvPr/>
        </p:nvSpPr>
        <p:spPr>
          <a:xfrm>
            <a:off x="4429067" y="785807"/>
            <a:ext cx="2350200" cy="10962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E" sz="1000" dirty="0"/>
          </a:p>
        </p:txBody>
      </p:sp>
      <p:sp>
        <p:nvSpPr>
          <p:cNvPr id="7" name="Google Shape;1037;p46">
            <a:extLst>
              <a:ext uri="{FF2B5EF4-FFF2-40B4-BE49-F238E27FC236}">
                <a16:creationId xmlns:a16="http://schemas.microsoft.com/office/drawing/2014/main" id="{641862EC-90E9-FE50-A668-B05145D4FE9D}"/>
              </a:ext>
            </a:extLst>
          </p:cNvPr>
          <p:cNvSpPr txBox="1">
            <a:spLocks/>
          </p:cNvSpPr>
          <p:nvPr/>
        </p:nvSpPr>
        <p:spPr>
          <a:xfrm>
            <a:off x="3479476" y="1513160"/>
            <a:ext cx="3151583" cy="16814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IE" b="1" dirty="0"/>
              <a:t>CICIDS2017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Controlled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8 CSV files with Network traffic and various attack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Shape (2830743, 79)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2,867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/>
              <a:t>15 attack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highly right-skewed and contain a large number of extreme outliers.</a:t>
            </a:r>
            <a:endParaRPr lang="en-IE" dirty="0"/>
          </a:p>
        </p:txBody>
      </p:sp>
      <p:pic>
        <p:nvPicPr>
          <p:cNvPr id="9" name="Graphic 8" descr="Database with solid fill">
            <a:extLst>
              <a:ext uri="{FF2B5EF4-FFF2-40B4-BE49-F238E27FC236}">
                <a16:creationId xmlns:a16="http://schemas.microsoft.com/office/drawing/2014/main" id="{75AE8B70-A926-AA36-949D-7CF50FE737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9267" y="71222"/>
            <a:ext cx="501478" cy="5014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AFB8B9-B4C6-7756-3065-E2CF5A00F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1670" y="835580"/>
            <a:ext cx="1868417" cy="28599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A911BD-C3E6-B7E9-2985-8E98191D0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" y="2782642"/>
            <a:ext cx="3151621" cy="20887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644EA1-AF36-00AB-BFE9-F2331D2D7381}"/>
              </a:ext>
            </a:extLst>
          </p:cNvPr>
          <p:cNvSpPr/>
          <p:nvPr/>
        </p:nvSpPr>
        <p:spPr>
          <a:xfrm>
            <a:off x="3399084" y="1123950"/>
            <a:ext cx="3311237" cy="21375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27386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0D04CF82-0E81-16A9-A356-4057D6269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611BA98A-A401-CE60-FEC3-B372856AFA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PREPARATION</a:t>
            </a:r>
            <a:endParaRPr dirty="0"/>
          </a:p>
        </p:txBody>
      </p:sp>
      <p:sp>
        <p:nvSpPr>
          <p:cNvPr id="797" name="Google Shape;797;p37">
            <a:extLst>
              <a:ext uri="{FF2B5EF4-FFF2-40B4-BE49-F238E27FC236}">
                <a16:creationId xmlns:a16="http://schemas.microsoft.com/office/drawing/2014/main" id="{06221550-99F0-9AA7-F6BF-11827C750B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4728" y="888017"/>
            <a:ext cx="5329818" cy="37763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E" sz="1800" b="1" dirty="0">
                <a:solidFill>
                  <a:schemeClr val="dk1"/>
                </a:solidFill>
              </a:rPr>
              <a:t>Goal: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Prepare the cleaned CICIDS2017 dataset for machine learning. </a:t>
            </a: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en-IE" sz="1800" b="1" dirty="0">
                <a:solidFill>
                  <a:schemeClr val="dk1"/>
                </a:solidFill>
              </a:rPr>
              <a:t>Main Steps: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Defined Label as the target variable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Separated features (X) and target (y)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Encoded 15 traffic classes into numeric labels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Removed highly correlated features using 0.90 threshold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Reduced features from 70 to 39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Applied 80/20 train/test split with stratification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Created Full, Capped and Controlled dataset strategies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Applied </a:t>
            </a:r>
            <a:r>
              <a:rPr lang="en-IE" dirty="0" err="1">
                <a:solidFill>
                  <a:schemeClr val="dk1"/>
                </a:solidFill>
              </a:rPr>
              <a:t>StandardScaler</a:t>
            </a:r>
            <a:r>
              <a:rPr lang="en-IE" dirty="0">
                <a:solidFill>
                  <a:schemeClr val="dk1"/>
                </a:solidFill>
              </a:rPr>
              <a:t> for Logistic Regression </a:t>
            </a: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en-IE" sz="1800" b="1" dirty="0">
                <a:solidFill>
                  <a:schemeClr val="dk1"/>
                </a:solidFill>
              </a:rPr>
              <a:t>Why This Matters: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This phase improved data quality, reduced complexity and prepared different dataset versions to compare model performance, runtime and attack coverage.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800" name="Google Shape;800;p37">
            <a:extLst>
              <a:ext uri="{FF2B5EF4-FFF2-40B4-BE49-F238E27FC236}">
                <a16:creationId xmlns:a16="http://schemas.microsoft.com/office/drawing/2014/main" id="{0B38855E-01C3-EEBB-42A1-780E1FDAB8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1541502"/>
              </p:ext>
            </p:extLst>
          </p:nvPr>
        </p:nvGraphicFramePr>
        <p:xfrm>
          <a:off x="5994400" y="1587560"/>
          <a:ext cx="2697019" cy="2377260"/>
        </p:xfrm>
        <a:graphic>
          <a:graphicData uri="http://schemas.openxmlformats.org/drawingml/2006/table">
            <a:tbl>
              <a:tblPr>
                <a:noFill/>
                <a:tableStyleId>{A2050ACF-7ECF-4B61-9BE6-5AA3A0698BA7}</a:tableStyleId>
              </a:tblPr>
              <a:tblGrid>
                <a:gridCol w="18749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42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Cleaned Rows</a:t>
                      </a:r>
                      <a:endParaRPr sz="12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2,520,798</a:t>
                      </a:r>
                      <a:endParaRPr sz="12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Original Features</a:t>
                      </a:r>
                      <a:endParaRPr sz="12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70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Removed Correlated Features</a:t>
                      </a:r>
                      <a:endParaRPr sz="12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31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Final Features</a:t>
                      </a:r>
                      <a:endParaRPr sz="12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39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dirty="0">
                          <a:solidFill>
                            <a:schemeClr val="hlink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Traffic Classes</a:t>
                      </a:r>
                      <a:endParaRPr sz="1200" u="none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15</a:t>
                      </a:r>
                      <a:endParaRPr sz="1000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sng" dirty="0">
                          <a:solidFill>
                            <a:schemeClr val="dk1"/>
                          </a:solidFill>
                          <a:latin typeface="Poppins ExtraBold"/>
                          <a:ea typeface="Poppins ExtraBold"/>
                          <a:cs typeface="Poppins ExtraBold"/>
                          <a:sym typeface="Poppins ExtraBold"/>
                        </a:rPr>
                        <a:t>Train/Test Split</a:t>
                      </a:r>
                      <a:endParaRPr sz="1200" u="sng" dirty="0">
                        <a:solidFill>
                          <a:schemeClr val="dk1"/>
                        </a:solidFill>
                        <a:latin typeface="Poppins ExtraBold"/>
                        <a:ea typeface="Poppins ExtraBold"/>
                        <a:cs typeface="Poppins ExtraBold"/>
                        <a:sym typeface="Poppins ExtraBo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80/20</a:t>
                      </a:r>
                      <a:endParaRPr sz="1200" b="1" u="sng" dirty="0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44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80009D08-8CE3-E85D-41D3-4D660A28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F28D096B-3530-39C4-17ED-D10DCAD08A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MODELLING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9D24B6-9118-8F3C-D115-336EFB4CA7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8" y="572700"/>
            <a:ext cx="5334001" cy="14212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D64595-F959-084D-E0C1-2667B5A8AA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1" y="2112350"/>
            <a:ext cx="5340928" cy="13354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C3284D-D9FE-ADE5-A886-D8A7FF2C2E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" y="3566159"/>
            <a:ext cx="5347855" cy="1371600"/>
          </a:xfrm>
          <a:prstGeom prst="rect">
            <a:avLst/>
          </a:prstGeom>
        </p:spPr>
      </p:pic>
      <p:sp>
        <p:nvSpPr>
          <p:cNvPr id="7" name="Google Shape;797;p37">
            <a:extLst>
              <a:ext uri="{FF2B5EF4-FFF2-40B4-BE49-F238E27FC236}">
                <a16:creationId xmlns:a16="http://schemas.microsoft.com/office/drawing/2014/main" id="{1D366F01-D447-F09D-C3E6-A02328966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25221" y="572700"/>
            <a:ext cx="3151908" cy="37763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E" sz="1500" b="1" dirty="0">
                <a:solidFill>
                  <a:schemeClr val="dk1"/>
                </a:solidFill>
              </a:rPr>
              <a:t>RF,DT and LR: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All 3 models were trained using the 3 datasets strategies, both with and without the balanced parameter.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LR used same datasets, but on a scaled version </a:t>
            </a:r>
            <a:r>
              <a:rPr lang="en-IE" dirty="0"/>
              <a:t>due to its sensitivity </a:t>
            </a:r>
            <a:r>
              <a:rPr lang="en-IE" sz="1100" dirty="0">
                <a:solidFill>
                  <a:schemeClr val="dk1"/>
                </a:solidFill>
              </a:rPr>
              <a:t>to feature magnitude </a:t>
            </a:r>
            <a:r>
              <a:rPr lang="en-US" sz="1100" dirty="0"/>
              <a:t>(Nugroho, et al., 2018).</a:t>
            </a:r>
          </a:p>
          <a:p>
            <a:pPr marL="171450" indent="-171450" algn="l"/>
            <a:r>
              <a:rPr lang="en-US" sz="1100" dirty="0">
                <a:solidFill>
                  <a:schemeClr val="dk1"/>
                </a:solidFill>
              </a:rPr>
              <a:t>In total, 18 different </a:t>
            </a:r>
            <a:r>
              <a:rPr lang="en-IE" sz="1100" dirty="0"/>
              <a:t>model configurations</a:t>
            </a:r>
            <a:br>
              <a:rPr lang="en-IE" sz="1100" dirty="0"/>
            </a:br>
            <a:r>
              <a:rPr lang="en-US" sz="1100" dirty="0">
                <a:solidFill>
                  <a:schemeClr val="dk1"/>
                </a:solidFill>
              </a:rPr>
              <a:t>were trained.</a:t>
            </a:r>
          </a:p>
          <a:p>
            <a:pPr marL="0" indent="0" algn="l">
              <a:buNone/>
            </a:pPr>
            <a:endParaRPr lang="en-US" sz="1100" dirty="0">
              <a:solidFill>
                <a:schemeClr val="dk1"/>
              </a:solidFill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chemeClr val="dk1"/>
                </a:solidFill>
              </a:rPr>
              <a:t>Further, 2 new tuning methods were used to DT model to achieve better performance, using:</a:t>
            </a:r>
          </a:p>
          <a:p>
            <a:pPr marL="171450" indent="-171450" algn="l"/>
            <a:r>
              <a:rPr lang="en-US" sz="1100" b="1" dirty="0">
                <a:solidFill>
                  <a:schemeClr val="dk1"/>
                </a:solidFill>
              </a:rPr>
              <a:t>Entropy</a:t>
            </a:r>
            <a:r>
              <a:rPr lang="en-US" sz="1100" dirty="0">
                <a:solidFill>
                  <a:schemeClr val="dk1"/>
                </a:solidFill>
              </a:rPr>
              <a:t>: Which focus on creating purer child nodes, meaning traffic classes become more separated after each split </a:t>
            </a:r>
            <a:r>
              <a:rPr lang="en-IE" sz="1100" dirty="0"/>
              <a:t>(Dash, 2022)</a:t>
            </a:r>
            <a:r>
              <a:rPr lang="en-US" sz="1100" dirty="0">
                <a:solidFill>
                  <a:schemeClr val="dk1"/>
                </a:solidFill>
              </a:rPr>
              <a:t>, which improved classification of less frequent classes.</a:t>
            </a:r>
          </a:p>
          <a:p>
            <a:pPr marL="171450" indent="-171450" algn="l"/>
            <a:r>
              <a:rPr lang="en-US" sz="1100" b="1" dirty="0" err="1">
                <a:solidFill>
                  <a:schemeClr val="dk1"/>
                </a:solidFill>
              </a:rPr>
              <a:t>Log_loss</a:t>
            </a:r>
            <a:r>
              <a:rPr lang="en-US" sz="1100" b="1" dirty="0">
                <a:solidFill>
                  <a:schemeClr val="dk1"/>
                </a:solidFill>
              </a:rPr>
              <a:t>: </a:t>
            </a:r>
            <a:r>
              <a:rPr lang="en-US" sz="1100" dirty="0">
                <a:solidFill>
                  <a:schemeClr val="dk1"/>
                </a:solidFill>
              </a:rPr>
              <a:t>Also measure impurity, but from a probabilistic perspective, and encourages tree to make splits that improve confidence of class predictions, providing better estimates and class separation in multiclass problems </a:t>
            </a:r>
            <a:r>
              <a:rPr lang="en-IE" dirty="0"/>
              <a:t>Shi et al. (2015).</a:t>
            </a:r>
            <a:endParaRPr lang="en-IE" sz="1100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671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979C77C9-77AC-6D4B-7365-19B009FF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8DEFD3AB-D5F1-7A45-7BC9-3C81C88ED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</a:t>
            </a:r>
            <a:endParaRPr dirty="0"/>
          </a:p>
        </p:txBody>
      </p:sp>
      <p:sp>
        <p:nvSpPr>
          <p:cNvPr id="797" name="Google Shape;797;p37">
            <a:extLst>
              <a:ext uri="{FF2B5EF4-FFF2-40B4-BE49-F238E27FC236}">
                <a16:creationId xmlns:a16="http://schemas.microsoft.com/office/drawing/2014/main" id="{8066FBAD-1FE1-0D20-C81E-8BBBF2A7D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27" y="747036"/>
            <a:ext cx="4969600" cy="40004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E" sz="1600" b="1" dirty="0">
                <a:solidFill>
                  <a:schemeClr val="dk1"/>
                </a:solidFill>
              </a:rPr>
              <a:t>Goal: </a:t>
            </a:r>
          </a:p>
          <a:p>
            <a:pPr marL="0" lvl="0" indent="0">
              <a:buNone/>
            </a:pPr>
            <a:r>
              <a:rPr lang="en-IE" sz="1100" dirty="0">
                <a:solidFill>
                  <a:schemeClr val="dk1"/>
                </a:solidFill>
              </a:rPr>
              <a:t>Compare all trained models and choose the best option for a lightweight IDS. </a:t>
            </a: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en-IE" sz="1600" b="1" dirty="0">
                <a:solidFill>
                  <a:schemeClr val="dk1"/>
                </a:solidFill>
              </a:rPr>
              <a:t>Metrics Used: </a:t>
            </a:r>
          </a:p>
          <a:p>
            <a:pPr marL="0" lvl="0" indent="0">
              <a:buNone/>
            </a:pPr>
            <a:r>
              <a:rPr lang="en-IE" sz="1100" i="1" dirty="0">
                <a:solidFill>
                  <a:schemeClr val="dk1"/>
                </a:solidFill>
              </a:rPr>
              <a:t>• Accuracy </a:t>
            </a:r>
          </a:p>
          <a:p>
            <a:pPr marL="0" lvl="0" indent="0">
              <a:buNone/>
            </a:pPr>
            <a:r>
              <a:rPr lang="en-IE" sz="1100" i="1" dirty="0">
                <a:solidFill>
                  <a:schemeClr val="dk1"/>
                </a:solidFill>
              </a:rPr>
              <a:t>• Precision </a:t>
            </a:r>
          </a:p>
          <a:p>
            <a:pPr marL="0" lvl="0" indent="0">
              <a:buNone/>
            </a:pPr>
            <a:r>
              <a:rPr lang="en-IE" sz="1100" i="1" dirty="0">
                <a:solidFill>
                  <a:schemeClr val="dk1"/>
                </a:solidFill>
              </a:rPr>
              <a:t>• </a:t>
            </a:r>
            <a:r>
              <a:rPr lang="en-IE" sz="1100" b="1" i="1" dirty="0">
                <a:solidFill>
                  <a:schemeClr val="dk1"/>
                </a:solidFill>
              </a:rPr>
              <a:t>Recall</a:t>
            </a:r>
            <a:r>
              <a:rPr lang="en-IE" sz="1100" i="1" dirty="0">
                <a:solidFill>
                  <a:schemeClr val="dk1"/>
                </a:solidFill>
              </a:rPr>
              <a:t> </a:t>
            </a:r>
          </a:p>
          <a:p>
            <a:pPr marL="0" lvl="0" indent="0">
              <a:buNone/>
            </a:pPr>
            <a:r>
              <a:rPr lang="en-IE" sz="1100" b="1" i="1" dirty="0">
                <a:solidFill>
                  <a:schemeClr val="dk1"/>
                </a:solidFill>
              </a:rPr>
              <a:t>• Macro F1-score </a:t>
            </a:r>
          </a:p>
          <a:p>
            <a:pPr marL="0" lvl="0" indent="0">
              <a:buNone/>
            </a:pPr>
            <a:r>
              <a:rPr lang="en-IE" sz="1100" i="1" dirty="0">
                <a:solidFill>
                  <a:schemeClr val="dk1"/>
                </a:solidFill>
              </a:rPr>
              <a:t>• Weighted F1-score </a:t>
            </a:r>
          </a:p>
          <a:p>
            <a:pPr marL="0" lvl="0" indent="0">
              <a:buNone/>
            </a:pPr>
            <a:r>
              <a:rPr lang="en-IE" sz="1100" b="1" i="1" dirty="0">
                <a:solidFill>
                  <a:schemeClr val="dk1"/>
                </a:solidFill>
              </a:rPr>
              <a:t>• Confusion matrix </a:t>
            </a:r>
          </a:p>
          <a:p>
            <a:pPr marL="0" lvl="0" indent="0">
              <a:buNone/>
            </a:pPr>
            <a:r>
              <a:rPr lang="en-IE" sz="1100" b="1" i="1" dirty="0">
                <a:solidFill>
                  <a:schemeClr val="dk1"/>
                </a:solidFill>
              </a:rPr>
              <a:t>• Training time </a:t>
            </a: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en-IE" sz="1600" b="1" dirty="0">
                <a:solidFill>
                  <a:schemeClr val="dk1"/>
                </a:solidFill>
              </a:rPr>
              <a:t>Main Findings: </a:t>
            </a:r>
          </a:p>
          <a:p>
            <a:pPr marL="0" lvl="0" indent="0">
              <a:buNone/>
            </a:pPr>
            <a:r>
              <a:rPr lang="en-IE" dirty="0">
                <a:solidFill>
                  <a:schemeClr val="dk1"/>
                </a:solidFill>
              </a:rPr>
              <a:t>• </a:t>
            </a:r>
            <a:r>
              <a:rPr lang="en-IE" sz="1100" dirty="0">
                <a:solidFill>
                  <a:schemeClr val="dk1"/>
                </a:solidFill>
              </a:rPr>
              <a:t>Accuracy alone was not enough because the dataset was highly imbalanced (</a:t>
            </a:r>
            <a:r>
              <a:rPr lang="en-IE" sz="1100" dirty="0"/>
              <a:t>Engelen, Rimmer and Joosen (2021)</a:t>
            </a:r>
            <a:r>
              <a:rPr lang="en-IE" sz="1100" dirty="0">
                <a:solidFill>
                  <a:schemeClr val="dk1"/>
                </a:solidFill>
              </a:rPr>
              <a:t> </a:t>
            </a:r>
          </a:p>
          <a:p>
            <a:pPr marL="0" lvl="0" indent="0">
              <a:buNone/>
            </a:pPr>
            <a:r>
              <a:rPr lang="en-IE" sz="1100" dirty="0">
                <a:solidFill>
                  <a:schemeClr val="dk1"/>
                </a:solidFill>
              </a:rPr>
              <a:t>• Logistic Regression was the weakest model, especially for minority classes </a:t>
            </a:r>
          </a:p>
          <a:p>
            <a:pPr marL="0" lvl="0" indent="0">
              <a:buNone/>
            </a:pPr>
            <a:r>
              <a:rPr lang="en-IE" sz="1100" dirty="0">
                <a:solidFill>
                  <a:schemeClr val="dk1"/>
                </a:solidFill>
              </a:rPr>
              <a:t>• Random Forest achieved strong results but had higher runtime </a:t>
            </a:r>
          </a:p>
          <a:p>
            <a:pPr marL="0" lvl="0" indent="0">
              <a:buNone/>
            </a:pPr>
            <a:r>
              <a:rPr lang="en-IE" sz="1100" dirty="0">
                <a:solidFill>
                  <a:schemeClr val="dk1"/>
                </a:solidFill>
              </a:rPr>
              <a:t>• Decision Tree gave the best balance between performance, runtime, interpretability and attack coverage </a:t>
            </a: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en-IE" sz="1600" b="1" dirty="0">
                <a:solidFill>
                  <a:schemeClr val="dk1"/>
                </a:solidFill>
              </a:rPr>
              <a:t>Final Model: </a:t>
            </a:r>
            <a:r>
              <a:rPr lang="en-IE" dirty="0">
                <a:solidFill>
                  <a:schemeClr val="dk1"/>
                </a:solidFill>
              </a:rPr>
              <a:t>Decision Tree – Full Dataset Balanced Tuned 2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FC479C-B559-9CC9-C28E-B75686400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705" y="1007906"/>
            <a:ext cx="4089168" cy="33885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C2114F-290A-055E-DD1C-7E060075AC91}"/>
              </a:ext>
            </a:extLst>
          </p:cNvPr>
          <p:cNvSpPr/>
          <p:nvPr/>
        </p:nvSpPr>
        <p:spPr>
          <a:xfrm>
            <a:off x="4971705" y="2003392"/>
            <a:ext cx="4089168" cy="18703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08334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D483E8E0-096E-3783-475C-D468D14F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D39A5B3A-DF2E-1849-3949-557B39F591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DEPLOYMENT &amp; CONCLUSION</a:t>
            </a:r>
            <a:endParaRPr dirty="0"/>
          </a:p>
        </p:txBody>
      </p:sp>
      <p:sp>
        <p:nvSpPr>
          <p:cNvPr id="4" name="Google Shape;797;p37">
            <a:extLst>
              <a:ext uri="{FF2B5EF4-FFF2-40B4-BE49-F238E27FC236}">
                <a16:creationId xmlns:a16="http://schemas.microsoft.com/office/drawing/2014/main" id="{334E240C-B3FB-7412-6864-30258AF3D0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8538" y="517453"/>
            <a:ext cx="3151908" cy="3555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E" sz="1500" b="1" dirty="0">
                <a:solidFill>
                  <a:schemeClr val="dk1"/>
                </a:solidFill>
              </a:rPr>
              <a:t>What was deployed?</a:t>
            </a:r>
          </a:p>
          <a:p>
            <a:pPr marL="0" lvl="0" indent="0">
              <a:buNone/>
            </a:pPr>
            <a:endParaRPr lang="en-IE" dirty="0">
              <a:solidFill>
                <a:schemeClr val="dk1"/>
              </a:solidFill>
            </a:endParaRPr>
          </a:p>
        </p:txBody>
      </p:sp>
      <p:pic>
        <p:nvPicPr>
          <p:cNvPr id="5" name="drawing">
            <a:extLst>
              <a:ext uri="{FF2B5EF4-FFF2-40B4-BE49-F238E27FC236}">
                <a16:creationId xmlns:a16="http://schemas.microsoft.com/office/drawing/2014/main" id="{345B9892-CC73-A2DA-7D2A-48B4D85ED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54" y="853784"/>
            <a:ext cx="3705074" cy="1479492"/>
          </a:xfrm>
          <a:prstGeom prst="rect">
            <a:avLst/>
          </a:prstGeom>
        </p:spPr>
      </p:pic>
      <p:sp>
        <p:nvSpPr>
          <p:cNvPr id="6" name="Google Shape;797;p37">
            <a:extLst>
              <a:ext uri="{FF2B5EF4-FFF2-40B4-BE49-F238E27FC236}">
                <a16:creationId xmlns:a16="http://schemas.microsoft.com/office/drawing/2014/main" id="{0D4E26D2-19BA-0939-C4A5-7E60E2C7253C}"/>
              </a:ext>
            </a:extLst>
          </p:cNvPr>
          <p:cNvSpPr txBox="1">
            <a:spLocks/>
          </p:cNvSpPr>
          <p:nvPr/>
        </p:nvSpPr>
        <p:spPr>
          <a:xfrm>
            <a:off x="328537" y="2333276"/>
            <a:ext cx="3151908" cy="147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IE" sz="1500" b="1" dirty="0">
                <a:solidFill>
                  <a:schemeClr val="dk1"/>
                </a:solidFill>
              </a:rPr>
              <a:t>Streamlit Prototype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Chosen model was saved, and loaded.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Prototype allows CSV upload for network traffic analysis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Generates traffic predictions and suspicious traffic summaries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Support prediction results download</a:t>
            </a:r>
            <a:endParaRPr lang="en-IE" dirty="0">
              <a:solidFill>
                <a:schemeClr val="dk1"/>
              </a:solidFill>
            </a:endParaRPr>
          </a:p>
        </p:txBody>
      </p:sp>
      <p:sp>
        <p:nvSpPr>
          <p:cNvPr id="7" name="Google Shape;797;p37">
            <a:extLst>
              <a:ext uri="{FF2B5EF4-FFF2-40B4-BE49-F238E27FC236}">
                <a16:creationId xmlns:a16="http://schemas.microsoft.com/office/drawing/2014/main" id="{4FFF505B-9E89-D645-C46C-AEBDC2B6A6FE}"/>
              </a:ext>
            </a:extLst>
          </p:cNvPr>
          <p:cNvSpPr txBox="1">
            <a:spLocks/>
          </p:cNvSpPr>
          <p:nvPr/>
        </p:nvSpPr>
        <p:spPr>
          <a:xfrm>
            <a:off x="5172227" y="572700"/>
            <a:ext cx="3151908" cy="355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IE" sz="1500" b="1" dirty="0">
                <a:solidFill>
                  <a:schemeClr val="dk1"/>
                </a:solidFill>
              </a:rPr>
              <a:t>What was Concluded?</a:t>
            </a:r>
          </a:p>
          <a:p>
            <a:pPr marL="0" indent="0">
              <a:buFont typeface="Nunito Light"/>
              <a:buNone/>
            </a:pPr>
            <a:endParaRPr lang="en-IE" dirty="0">
              <a:solidFill>
                <a:schemeClr val="dk1"/>
              </a:solidFill>
            </a:endParaRPr>
          </a:p>
        </p:txBody>
      </p:sp>
      <p:pic>
        <p:nvPicPr>
          <p:cNvPr id="10" name="drawing">
            <a:extLst>
              <a:ext uri="{FF2B5EF4-FFF2-40B4-BE49-F238E27FC236}">
                <a16:creationId xmlns:a16="http://schemas.microsoft.com/office/drawing/2014/main" id="{E9C997D7-FAAE-AC16-4476-D78CB30880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6402" y="2704860"/>
            <a:ext cx="4895643" cy="1792082"/>
          </a:xfrm>
          <a:prstGeom prst="rect">
            <a:avLst/>
          </a:prstGeom>
        </p:spPr>
      </p:pic>
      <p:sp>
        <p:nvSpPr>
          <p:cNvPr id="11" name="Google Shape;797;p37">
            <a:extLst>
              <a:ext uri="{FF2B5EF4-FFF2-40B4-BE49-F238E27FC236}">
                <a16:creationId xmlns:a16="http://schemas.microsoft.com/office/drawing/2014/main" id="{4A8EDE05-86B2-6F58-37AE-FB11183F999C}"/>
              </a:ext>
            </a:extLst>
          </p:cNvPr>
          <p:cNvSpPr txBox="1">
            <a:spLocks/>
          </p:cNvSpPr>
          <p:nvPr/>
        </p:nvSpPr>
        <p:spPr>
          <a:xfrm>
            <a:off x="4755125" y="872967"/>
            <a:ext cx="3986112" cy="1883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CICIDS2017 successfully used for multiclass IDS classification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LR showed weakest performance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RF achieved strong results but higher computational cost</a:t>
            </a:r>
          </a:p>
          <a:p>
            <a:pPr marL="171450" indent="-171450" algn="l"/>
            <a:r>
              <a:rPr lang="en-IE" sz="1100" dirty="0">
                <a:solidFill>
                  <a:schemeClr val="dk1"/>
                </a:solidFill>
              </a:rPr>
              <a:t>DT Full Dataset Balanced Tuned 2 provided the best balance between:</a:t>
            </a:r>
          </a:p>
          <a:p>
            <a:pPr marL="628650" lvl="1" indent="-171450"/>
            <a:r>
              <a:rPr lang="en-IE" sz="1100" dirty="0">
                <a:solidFill>
                  <a:schemeClr val="dk1"/>
                </a:solidFill>
              </a:rPr>
              <a:t>Performance</a:t>
            </a:r>
          </a:p>
          <a:p>
            <a:pPr marL="628650" lvl="1" indent="-171450"/>
            <a:r>
              <a:rPr lang="en-IE" sz="1100" dirty="0">
                <a:solidFill>
                  <a:schemeClr val="dk1"/>
                </a:solidFill>
              </a:rPr>
              <a:t>Runtime efficiency</a:t>
            </a:r>
          </a:p>
          <a:p>
            <a:pPr marL="628650" lvl="1" indent="-171450"/>
            <a:r>
              <a:rPr lang="en-IE" sz="1100" dirty="0">
                <a:solidFill>
                  <a:schemeClr val="dk1"/>
                </a:solidFill>
              </a:rPr>
              <a:t>Interpretability</a:t>
            </a:r>
          </a:p>
          <a:p>
            <a:pPr marL="628650" lvl="1" indent="-171450"/>
            <a:r>
              <a:rPr lang="en-IE" sz="1100" dirty="0">
                <a:solidFill>
                  <a:schemeClr val="dk1"/>
                </a:solidFill>
              </a:rPr>
              <a:t>Attack  Coverage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564324-C778-9979-741B-A92FDF0D2A41}"/>
              </a:ext>
            </a:extLst>
          </p:cNvPr>
          <p:cNvSpPr txBox="1"/>
          <p:nvPr/>
        </p:nvSpPr>
        <p:spPr>
          <a:xfrm>
            <a:off x="51954" y="3730965"/>
            <a:ext cx="399357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dk1"/>
              </a:buClr>
              <a:buSzPts val="1200"/>
            </a:pPr>
            <a:r>
              <a:rPr lang="en-US" sz="1500" b="1" dirty="0">
                <a:solidFill>
                  <a:schemeClr val="dk1"/>
                </a:solidFill>
                <a:latin typeface="Barlow"/>
                <a:sym typeface="Barlow"/>
              </a:rPr>
              <a:t>Future Implementations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Barlow" panose="00000500000000000000" pitchFamily="2" charset="0"/>
              </a:rPr>
              <a:t>Integrate live network traffic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Barlow" panose="00000500000000000000" pitchFamily="2" charset="0"/>
              </a:rPr>
              <a:t>Retrain the model using newer cybersecurity datasets and attack patterns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Barlow" panose="00000500000000000000" pitchFamily="2" charset="0"/>
              </a:rPr>
              <a:t>Implement automated alerts for suspicious traffic detection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Barlow" panose="00000500000000000000" pitchFamily="2" charset="0"/>
              </a:rPr>
              <a:t>Compare lightweight machine learning models with deep learning approaches</a:t>
            </a:r>
            <a:endParaRPr lang="en-IE" sz="1100" dirty="0">
              <a:latin typeface="Barlow" panose="000005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3DFD2A-40EA-DF38-3EDE-C138A15BCD66}"/>
              </a:ext>
            </a:extLst>
          </p:cNvPr>
          <p:cNvSpPr/>
          <p:nvPr/>
        </p:nvSpPr>
        <p:spPr>
          <a:xfrm>
            <a:off x="51954" y="3752232"/>
            <a:ext cx="3993572" cy="13388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8840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6A5F3A25-3761-964B-3329-381E4E39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4BE50521-1868-9FFC-346F-A7458CE603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13399B-5059-FA8F-D5F2-4D1C057E08E3}"/>
              </a:ext>
            </a:extLst>
          </p:cNvPr>
          <p:cNvSpPr txBox="1"/>
          <p:nvPr/>
        </p:nvSpPr>
        <p:spPr>
          <a:xfrm>
            <a:off x="299603" y="888928"/>
            <a:ext cx="833870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1200" dirty="0"/>
              <a:t>Dash, S. (2022) </a:t>
            </a:r>
            <a:r>
              <a:rPr lang="en-IE" sz="1200" i="1" dirty="0"/>
              <a:t>Decision Trees Explained - Entropy, Information Gain, Gini Index, CCP Pruning</a:t>
            </a:r>
            <a:r>
              <a:rPr lang="en-IE" sz="1200" dirty="0"/>
              <a:t>. Available at: Towards Data Science (Accessed: 26 May 2026). </a:t>
            </a:r>
          </a:p>
          <a:p>
            <a:endParaRPr lang="en-IE" sz="1200" dirty="0"/>
          </a:p>
          <a:p>
            <a:r>
              <a:rPr lang="en-IE" sz="1200" dirty="0"/>
              <a:t>Engelen, G., Rimmer, V. and Joosen, W. (2021) </a:t>
            </a:r>
            <a:r>
              <a:rPr lang="en-IE" sz="1200" i="1" dirty="0"/>
              <a:t>Troubleshooting an Intrusion Detection Dataset: The CICIDS2017 Case Study</a:t>
            </a:r>
            <a:r>
              <a:rPr lang="en-IE" sz="1200" dirty="0"/>
              <a:t>. Available at: </a:t>
            </a:r>
            <a:r>
              <a:rPr lang="en-IE" sz="1200" dirty="0" err="1"/>
              <a:t>DistriNet</a:t>
            </a:r>
            <a:r>
              <a:rPr lang="en-IE" sz="1200" dirty="0"/>
              <a:t> Research. </a:t>
            </a:r>
          </a:p>
          <a:p>
            <a:endParaRPr lang="en-IE" sz="1200" dirty="0"/>
          </a:p>
          <a:p>
            <a:r>
              <a:rPr lang="en-IE" sz="1200" dirty="0"/>
              <a:t>Forde, R. (2025) </a:t>
            </a:r>
            <a:r>
              <a:rPr lang="en-IE" sz="1200" i="1" dirty="0"/>
              <a:t>Reducing cyber security risks for Irish SMEs in 2025 and beyond</a:t>
            </a:r>
            <a:r>
              <a:rPr lang="en-IE" sz="1200" dirty="0"/>
              <a:t>. Available at: Cyber Ireland (Accessed: 9 May 2026). </a:t>
            </a:r>
          </a:p>
          <a:p>
            <a:endParaRPr lang="en-IE" sz="1200" dirty="0"/>
          </a:p>
          <a:p>
            <a:r>
              <a:rPr lang="en-IE" sz="1200" dirty="0"/>
              <a:t>Shi, Q., Reid, M., Caetano, T., van den Hengel, A. and Wang, Z. (2015) ‘A Hybrid Loss for Multiclass and Structured Prediction’, </a:t>
            </a:r>
            <a:r>
              <a:rPr lang="en-IE" sz="1200" i="1" dirty="0"/>
              <a:t>IEEE Transactions on Pattern Analysis and Machine Intelligence</a:t>
            </a:r>
            <a:r>
              <a:rPr lang="en-IE" sz="1200" dirty="0"/>
              <a:t>, 37(1), pp. 2–12. </a:t>
            </a:r>
            <a:r>
              <a:rPr lang="en-IE" sz="1200" dirty="0" err="1"/>
              <a:t>doi</a:t>
            </a:r>
            <a:r>
              <a:rPr lang="en-IE" sz="1200" dirty="0"/>
              <a:t>: </a:t>
            </a:r>
            <a:r>
              <a:rPr lang="en-IE" sz="1200" dirty="0">
                <a:hlinkClick r:id="rId3"/>
              </a:rPr>
              <a:t>https://doi.org/10.1109/TPAMI.2014.2306414</a:t>
            </a:r>
            <a:r>
              <a:rPr lang="en-IE" sz="1200" dirty="0"/>
              <a:t>. </a:t>
            </a:r>
          </a:p>
          <a:p>
            <a:endParaRPr lang="en-IE" sz="1200" dirty="0"/>
          </a:p>
          <a:p>
            <a:r>
              <a:rPr lang="en-IE" sz="1200" dirty="0" err="1"/>
              <a:t>Slidesgo</a:t>
            </a:r>
            <a:r>
              <a:rPr lang="en-IE" sz="1200" dirty="0"/>
              <a:t> (n.d.) </a:t>
            </a:r>
            <a:r>
              <a:rPr lang="en-IE" sz="1200" i="1" dirty="0"/>
              <a:t>Free presentation templates and themes</a:t>
            </a:r>
            <a:r>
              <a:rPr lang="en-IE" sz="1200" dirty="0"/>
              <a:t>. Available at: </a:t>
            </a:r>
            <a:r>
              <a:rPr lang="en-IE" sz="1200" dirty="0" err="1"/>
              <a:t>Slidesgo</a:t>
            </a:r>
            <a:r>
              <a:rPr lang="en-IE" sz="1200" dirty="0"/>
              <a:t> (Accessed: 29 May 2026).</a:t>
            </a:r>
          </a:p>
          <a:p>
            <a:endParaRPr lang="en-IE" sz="1200" dirty="0"/>
          </a:p>
          <a:p>
            <a:r>
              <a:rPr lang="en-IE" sz="1200" dirty="0"/>
              <a:t>Zamani, S.Z. (2022) ‘Small and Medium Enterprises (SMEs) facing an evolving technological era: a systematic literature review on the adoption of technologies in SMEs’, </a:t>
            </a:r>
            <a:r>
              <a:rPr lang="en-IE" sz="1200" i="1" dirty="0"/>
              <a:t>European Journal of Innovation Management</a:t>
            </a:r>
            <a:r>
              <a:rPr lang="en-IE" sz="1200" dirty="0"/>
              <a:t>, 25(6). </a:t>
            </a:r>
            <a:r>
              <a:rPr lang="en-IE" sz="1200" dirty="0" err="1"/>
              <a:t>doi</a:t>
            </a:r>
            <a:r>
              <a:rPr lang="en-IE" sz="1200" dirty="0"/>
              <a:t>: DOI.</a:t>
            </a:r>
          </a:p>
        </p:txBody>
      </p:sp>
    </p:spTree>
    <p:extLst>
      <p:ext uri="{BB962C8B-B14F-4D97-AF65-F5344CB8AC3E}">
        <p14:creationId xmlns:p14="http://schemas.microsoft.com/office/powerpoint/2010/main" val="161690156"/>
      </p:ext>
    </p:extLst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1000</Words>
  <Application>Microsoft Macintosh PowerPoint</Application>
  <PresentationFormat>On-screen Show (16:9)</PresentationFormat>
  <Paragraphs>132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Poppins Black</vt:lpstr>
      <vt:lpstr>Poppins ExtraBold</vt:lpstr>
      <vt:lpstr>Arial</vt:lpstr>
      <vt:lpstr>Nunito Light</vt:lpstr>
      <vt:lpstr>Barlow</vt:lpstr>
      <vt:lpstr>Data Analytics Strategy Toolkit by Slidesgo</vt:lpstr>
      <vt:lpstr>LIGHTWEIGHT  NETWORK  IDS USING  MACHINE  LEARNING  FOR  CYBERATTACK CLASSIFICATION</vt:lpstr>
      <vt:lpstr>CRISP -DM FRAMEWORK</vt:lpstr>
      <vt:lpstr>BUSINESS UNDERSTANDING</vt:lpstr>
      <vt:lpstr>DATA UNDERSTANDING</vt:lpstr>
      <vt:lpstr>DATA PREPARATION</vt:lpstr>
      <vt:lpstr>MODELLING</vt:lpstr>
      <vt:lpstr>EVALUATION</vt:lpstr>
      <vt:lpstr>DEPLOYMENT &amp; 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Thiago Gonçalves</cp:lastModifiedBy>
  <cp:revision>4</cp:revision>
  <dcterms:modified xsi:type="dcterms:W3CDTF">2026-05-30T17:26:51Z</dcterms:modified>
</cp:coreProperties>
</file>