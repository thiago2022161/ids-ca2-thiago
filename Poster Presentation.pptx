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DB924E-6AE5-4C8B-92A2-E13E5F2C0196}" v="27" dt="2026-05-27T19:51:35.042"/>
    <p1510:client id="{D6BF3BDA-612A-C84B-B48F-C5B667FBC9FE}" v="1" dt="2026-05-27T19:54:02.0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1" autoAdjust="0"/>
    <p:restoredTop sz="94358" autoAdjust="0"/>
  </p:normalViewPr>
  <p:slideViewPr>
    <p:cSldViewPr snapToGrid="0" snapToObjects="1" showGuides="1">
      <p:cViewPr>
        <p:scale>
          <a:sx n="40" d="100"/>
          <a:sy n="40" d="100"/>
        </p:scale>
        <p:origin x="-1792" y="-168"/>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‹nº›</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5/27/2026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‹nº›</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41" name="Object 40"/>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43" name="Object 42"/>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56" name="Object 55"/>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58" name="Object 57"/>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6" name="Object 45"/>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8" name="Object 47"/>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1" name="Object 60"/>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2" name="Object 61"/>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5" name="Object 44"/>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7" name="Object 46"/>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0" name="Object 59"/>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1" name="Object 60"/>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74895" y="6264690"/>
            <a:ext cx="10056813" cy="6001621"/>
          </a:xfrm>
        </p:spPr>
        <p:txBody>
          <a:bodyPr/>
          <a:lstStyle/>
          <a:p>
            <a:pPr algn="just"/>
            <a:r>
              <a:rPr lang="en-IE" dirty="0">
                <a:solidFill>
                  <a:schemeClr val="tx1"/>
                </a:solidFill>
              </a:rPr>
              <a:t>This project focused on developing a lightweight Network Intrusion Detection System (IDS) using machine learning techniques to classify benign and malicious network traffic. It followed the CRISP-DM framework and used the CIC-IDS2017 dataset as the main source of network flow data. Multiple preprocessing techniques were applied to prepare this dataset for three different machine learning models: Random Forest, Decision Tree and Logistic Regression. Then, the models were evaluated using accuracy, precision, recall, macro F1-score, and confusion matrix analysis.</a:t>
            </a:r>
          </a:p>
          <a:p>
            <a:pPr algn="just"/>
            <a:r>
              <a:rPr lang="en-IE" dirty="0">
                <a:solidFill>
                  <a:schemeClr val="tx1"/>
                </a:solidFill>
              </a:rPr>
              <a:t>The Decision Tree Full Dataset Balanced Tuned 2 model was selected as the final lightweight IDS solution because it achieved the best balance between strong classification performance, attack coverage, interpretability and runtime efficiency.</a:t>
            </a:r>
          </a:p>
          <a:p>
            <a:endParaRPr lang="en-US" dirty="0"/>
          </a:p>
        </p:txBody>
      </p:sp>
      <p:sp>
        <p:nvSpPr>
          <p:cNvPr id="3" name="Text Placeholder 2"/>
          <p:cNvSpPr>
            <a:spLocks noGrp="1"/>
          </p:cNvSpPr>
          <p:nvPr>
            <p:ph type="body" sz="quarter" idx="11"/>
          </p:nvPr>
        </p:nvSpPr>
        <p:spPr/>
        <p:txBody>
          <a:bodyPr/>
          <a:lstStyle/>
          <a:p>
            <a:r>
              <a:rPr lang="en-US" dirty="0">
                <a:solidFill>
                  <a:schemeClr val="tx2"/>
                </a:solidFill>
                <a:latin typeface="Arial" panose="020B0604020202020204" pitchFamily="34" charset="0"/>
                <a:cs typeface="Arial" panose="020B0604020202020204" pitchFamily="34" charset="0"/>
              </a:rPr>
              <a:t>ABSTRACT</a:t>
            </a:r>
          </a:p>
        </p:txBody>
      </p:sp>
      <p:sp>
        <p:nvSpPr>
          <p:cNvPr id="4" name="Text Placeholder 3"/>
          <p:cNvSpPr>
            <a:spLocks noGrp="1"/>
          </p:cNvSpPr>
          <p:nvPr>
            <p:ph type="body" sz="quarter" idx="20"/>
          </p:nvPr>
        </p:nvSpPr>
        <p:spPr>
          <a:xfrm>
            <a:off x="496930" y="16070149"/>
            <a:ext cx="10050462" cy="754045"/>
          </a:xfrm>
        </p:spPr>
        <p:txBody>
          <a:bodyPr/>
          <a:lstStyle/>
          <a:p>
            <a:r>
              <a:rPr lang="en-US" dirty="0">
                <a:solidFill>
                  <a:schemeClr val="tx2"/>
                </a:solidFill>
                <a:latin typeface="Arial" panose="020B0604020202020204" pitchFamily="34" charset="0"/>
                <a:cs typeface="Arial" panose="020B0604020202020204" pitchFamily="34" charset="0"/>
              </a:rPr>
              <a:t>CONCEPTUAL FRAMEWORK</a:t>
            </a:r>
          </a:p>
        </p:txBody>
      </p:sp>
      <p:sp>
        <p:nvSpPr>
          <p:cNvPr id="6" name="Text Placeholder 5"/>
          <p:cNvSpPr>
            <a:spLocks noGrp="1"/>
          </p:cNvSpPr>
          <p:nvPr>
            <p:ph type="body" sz="quarter" idx="22"/>
          </p:nvPr>
        </p:nvSpPr>
        <p:spPr>
          <a:xfrm>
            <a:off x="498517" y="27536679"/>
            <a:ext cx="10048875" cy="754045"/>
          </a:xfrm>
        </p:spPr>
        <p:txBody>
          <a:bodyPr/>
          <a:lstStyle/>
          <a:p>
            <a:r>
              <a:rPr lang="en-US" dirty="0">
                <a:solidFill>
                  <a:schemeClr val="tx2"/>
                </a:solidFill>
                <a:latin typeface="Arial" panose="020B0604020202020204" pitchFamily="34" charset="0"/>
                <a:cs typeface="Arial" panose="020B0604020202020204" pitchFamily="34" charset="0"/>
              </a:rPr>
              <a:t> BUSINESS UNDERSTANDING</a:t>
            </a:r>
          </a:p>
        </p:txBody>
      </p:sp>
      <p:sp>
        <p:nvSpPr>
          <p:cNvPr id="9" name="Text Placeholder 8"/>
          <p:cNvSpPr>
            <a:spLocks noGrp="1"/>
          </p:cNvSpPr>
          <p:nvPr>
            <p:ph type="body" sz="quarter" idx="25"/>
          </p:nvPr>
        </p:nvSpPr>
        <p:spPr>
          <a:xfrm>
            <a:off x="33346443" y="21931197"/>
            <a:ext cx="10047018" cy="677100"/>
          </a:xfrm>
        </p:spPr>
        <p:txBody>
          <a:bodyPr/>
          <a:lstStyle/>
          <a:p>
            <a:r>
              <a:rPr lang="en-US" sz="3200" dirty="0">
                <a:solidFill>
                  <a:schemeClr val="tx2"/>
                </a:solidFill>
                <a:latin typeface="Arial" panose="020B0604020202020204" pitchFamily="34" charset="0"/>
                <a:cs typeface="Arial" panose="020B0604020202020204" pitchFamily="34" charset="0"/>
              </a:rPr>
              <a:t>CONCLUSIONS</a:t>
            </a:r>
          </a:p>
        </p:txBody>
      </p:sp>
      <p:sp>
        <p:nvSpPr>
          <p:cNvPr id="11" name="Text Placeholder 10"/>
          <p:cNvSpPr>
            <a:spLocks noGrp="1"/>
          </p:cNvSpPr>
          <p:nvPr>
            <p:ph type="body" sz="quarter" idx="27"/>
          </p:nvPr>
        </p:nvSpPr>
        <p:spPr>
          <a:xfrm>
            <a:off x="33392567" y="28504101"/>
            <a:ext cx="10047018" cy="754045"/>
          </a:xfrm>
        </p:spPr>
        <p:txBody>
          <a:bodyPr/>
          <a:lstStyle/>
          <a:p>
            <a:r>
              <a:rPr lang="en-US" dirty="0">
                <a:solidFill>
                  <a:schemeClr val="tx2"/>
                </a:solidFill>
                <a:latin typeface="Arial" panose="020B0604020202020204" pitchFamily="34" charset="0"/>
                <a:cs typeface="Arial" panose="020B0604020202020204" pitchFamily="34" charset="0"/>
              </a:rPr>
              <a:t>REFERENCES</a:t>
            </a:r>
          </a:p>
        </p:txBody>
      </p:sp>
      <p:sp>
        <p:nvSpPr>
          <p:cNvPr id="16" name="Text Placeholder 15"/>
          <p:cNvSpPr>
            <a:spLocks noGrp="1"/>
          </p:cNvSpPr>
          <p:nvPr>
            <p:ph type="body" sz="quarter" idx="150"/>
          </p:nvPr>
        </p:nvSpPr>
        <p:spPr/>
        <p:txBody>
          <a:bodyPr>
            <a:normAutofit/>
          </a:bodyPr>
          <a:lstStyle/>
          <a:p>
            <a:r>
              <a:rPr lang="en-US" sz="4800" b="1" dirty="0">
                <a:latin typeface="Arial" panose="020B0604020202020204" pitchFamily="34" charset="0"/>
                <a:cs typeface="Arial" panose="020B0604020202020204" pitchFamily="34" charset="0"/>
              </a:rPr>
              <a:t>Sander Soares &amp; Thiago Gon</a:t>
            </a:r>
            <a:r>
              <a:rPr lang="en-IE" b="1" dirty="0"/>
              <a:t>çalves</a:t>
            </a:r>
            <a:r>
              <a:rPr lang="en-US" sz="4800" b="1" dirty="0">
                <a:latin typeface="Arial" panose="020B0604020202020204" pitchFamily="34" charset="0"/>
                <a:cs typeface="Arial" panose="020B0604020202020204" pitchFamily="34" charset="0"/>
              </a:rPr>
              <a:t>, CCT College Dublin, May 2026</a:t>
            </a:r>
          </a:p>
        </p:txBody>
      </p:sp>
      <p:sp>
        <p:nvSpPr>
          <p:cNvPr id="18" name="Text Placeholder 17"/>
          <p:cNvSpPr>
            <a:spLocks noGrp="1"/>
          </p:cNvSpPr>
          <p:nvPr>
            <p:ph type="body" sz="quarter" idx="153"/>
          </p:nvPr>
        </p:nvSpPr>
        <p:spPr>
          <a:xfrm>
            <a:off x="58530" y="876749"/>
            <a:ext cx="42901013" cy="2277387"/>
          </a:xfrm>
        </p:spPr>
        <p:txBody>
          <a:bodyPr>
            <a:normAutofit fontScale="70000" lnSpcReduction="20000"/>
          </a:bodyPr>
          <a:lstStyle/>
          <a:p>
            <a:r>
              <a:rPr lang="en-US" b="1" cap="small" dirty="0">
                <a:latin typeface="Arial" panose="020B0604020202020204" pitchFamily="34" charset="0"/>
                <a:cs typeface="Arial" panose="020B0604020202020204" pitchFamily="34" charset="0"/>
              </a:rPr>
              <a:t>LIGHTWEIGHT NETWORK INTRUSION DETECTION SYSTEM (IDS) USING MACHINE LEARNING FOR CYBERATTACK CLASSIFICATION</a:t>
            </a:r>
            <a:endParaRPr lang="en-US" dirty="0">
              <a:latin typeface="+mn-l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08415" y="10820362"/>
            <a:ext cx="9841664" cy="5223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92567" y="16426199"/>
            <a:ext cx="9857512" cy="524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Text Placeholder 6"/>
          <p:cNvSpPr>
            <a:spLocks noGrp="1"/>
          </p:cNvSpPr>
          <p:nvPr>
            <p:ph type="body" sz="quarter" idx="23"/>
          </p:nvPr>
        </p:nvSpPr>
        <p:spPr>
          <a:xfrm>
            <a:off x="33371596" y="5536712"/>
            <a:ext cx="10048874" cy="846363"/>
          </a:xfrm>
        </p:spPr>
        <p:txBody>
          <a:bodyPr/>
          <a:lstStyle/>
          <a:p>
            <a:r>
              <a:rPr lang="en-US" i="1" u="sng" dirty="0">
                <a:solidFill>
                  <a:schemeClr val="tx2"/>
                </a:solidFill>
                <a:latin typeface="Arial" panose="020B0604020202020204" pitchFamily="34" charset="0"/>
                <a:cs typeface="Arial" panose="020B0604020202020204" pitchFamily="34" charset="0"/>
              </a:rPr>
              <a:t>Self Efficacy</a:t>
            </a:r>
          </a:p>
        </p:txBody>
      </p:sp>
      <p:sp>
        <p:nvSpPr>
          <p:cNvPr id="31" name="Text Placeholder 11"/>
          <p:cNvSpPr>
            <a:spLocks noGrp="1"/>
          </p:cNvSpPr>
          <p:nvPr>
            <p:ph type="body" sz="quarter" idx="28"/>
          </p:nvPr>
        </p:nvSpPr>
        <p:spPr>
          <a:xfrm>
            <a:off x="33382622" y="6056596"/>
            <a:ext cx="10052050" cy="4693570"/>
          </a:xfrm>
        </p:spPr>
        <p:txBody>
          <a:bodyPr/>
          <a:lstStyle/>
          <a:p>
            <a:r>
              <a:rPr lang="en-IE" dirty="0">
                <a:solidFill>
                  <a:schemeClr val="tx1"/>
                </a:solidFill>
                <a:latin typeface="Arial" panose="020B0604020202020204" pitchFamily="34" charset="0"/>
                <a:cs typeface="Arial" panose="020B0604020202020204" pitchFamily="34" charset="0"/>
              </a:rPr>
              <a:t>Participants were provided a self-efficacy questionnaire, based on a approach suggested by Bandura (2006), to complete at the start and end of a semester. A social learning intervention was introduced to a treatment group, and the overall self-efficacy group score comparison revealed very little, other than a slight increase in the treatment group score.  However, a significant finding was found when comparing the final four questions measuring the perceived ability to work within a group. To illustrate this, the first figure below represents the start of semester self-efficacy group score for both groups, followed by the second figure representing the end of semester self-efficacy score reversal.</a:t>
            </a:r>
            <a:endParaRPr lang="en-US" dirty="0">
              <a:solidFill>
                <a:schemeClr val="tx1"/>
              </a:solidFill>
              <a:latin typeface="Arial" panose="020B0604020202020204" pitchFamily="34" charset="0"/>
              <a:cs typeface="Arial" panose="020B0604020202020204" pitchFamily="34" charset="0"/>
            </a:endParaRPr>
          </a:p>
        </p:txBody>
      </p:sp>
      <p:sp>
        <p:nvSpPr>
          <p:cNvPr id="32" name="Content Placeholder 2"/>
          <p:cNvSpPr txBox="1">
            <a:spLocks/>
          </p:cNvSpPr>
          <p:nvPr/>
        </p:nvSpPr>
        <p:spPr>
          <a:xfrm>
            <a:off x="670763" y="16995258"/>
            <a:ext cx="9726504" cy="4178457"/>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r>
              <a:rPr lang="en-US" sz="2500" dirty="0">
                <a:latin typeface="Times New Roman" panose="02020603050405020304" pitchFamily="18" charset="0"/>
                <a:cs typeface="Times New Roman" panose="02020603050405020304" pitchFamily="18" charset="0"/>
              </a:rPr>
              <a:t>This project used the Cross-Industry Standard Process for Data Mining (CRISP-DM) model as a method for creating an efficient and well-structured Lightweight Intrusion Detection System (LIDS). Using the CRISP-DM model allowed the project to follow a systematic approach throughout all six phases of the Data Mining process: Business Understanding, Data Understanding, Data Preparation, Modelling, Evaluation and Deployment. The CRISP-DM model also assisted in maintaining a logical sequence during dataset preprocessing, machine learning experimentation, model evaluation and deployment planning stages (Schröer, et al., 2020)</a:t>
            </a:r>
            <a:endParaRPr lang="en-IE" sz="2500" dirty="0">
              <a:latin typeface="Times New Roman" panose="02020603050405020304" pitchFamily="18" charset="0"/>
              <a:cs typeface="Times New Roman" panose="02020603050405020304" pitchFamily="18" charset="0"/>
            </a:endParaRPr>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0" name="Text Placeholder 3"/>
          <p:cNvSpPr>
            <a:spLocks noGrp="1"/>
          </p:cNvSpPr>
          <p:nvPr>
            <p:ph type="body" sz="quarter" idx="20"/>
          </p:nvPr>
        </p:nvSpPr>
        <p:spPr>
          <a:xfrm>
            <a:off x="550697" y="11725870"/>
            <a:ext cx="10026754" cy="754045"/>
          </a:xfrm>
        </p:spPr>
        <p:txBody>
          <a:bodyPr/>
          <a:lstStyle/>
          <a:p>
            <a:r>
              <a:rPr lang="en-US" dirty="0">
                <a:solidFill>
                  <a:schemeClr val="tx2"/>
                </a:solidFill>
                <a:latin typeface="Arial" panose="020B0604020202020204" pitchFamily="34" charset="0"/>
                <a:cs typeface="Arial" panose="020B0604020202020204" pitchFamily="34" charset="0"/>
              </a:rPr>
              <a:t>RESEARCH QUESTIONS</a:t>
            </a:r>
          </a:p>
        </p:txBody>
      </p:sp>
      <p:sp>
        <p:nvSpPr>
          <p:cNvPr id="41" name="Content Placeholder 2"/>
          <p:cNvSpPr txBox="1">
            <a:spLocks/>
          </p:cNvSpPr>
          <p:nvPr/>
        </p:nvSpPr>
        <p:spPr>
          <a:xfrm>
            <a:off x="534829" y="12492917"/>
            <a:ext cx="9736942" cy="3792957"/>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r>
              <a:rPr lang="en-US" sz="2500" dirty="0">
                <a:latin typeface="Times New Roman" panose="02020603050405020304" pitchFamily="18" charset="0"/>
                <a:cs typeface="Times New Roman" pitchFamily="18" charset="0"/>
              </a:rPr>
              <a:t>The following four questions represent the main focus of this research study:</a:t>
            </a:r>
            <a:endParaRPr lang="en-IE" sz="2500" dirty="0">
              <a:latin typeface="Times New Roman" panose="02020603050405020304" pitchFamily="18" charset="0"/>
              <a:cs typeface="Times New Roman" pitchFamily="18" charset="0"/>
            </a:endParaRP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Q.1.</a:t>
            </a:r>
            <a:r>
              <a:rPr lang="en-IE" sz="2500" dirty="0">
                <a:latin typeface="Times New Roman" panose="02020603050405020304" pitchFamily="18" charset="0"/>
                <a:cs typeface="Times New Roman" panose="02020603050405020304" pitchFamily="18" charset="0"/>
              </a:rPr>
              <a:t> 	Which Machine Learning model perform best for multiclass intrusion detection?</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Q.2</a:t>
            </a:r>
            <a:r>
              <a:rPr lang="en-IE" sz="2500" dirty="0">
                <a:latin typeface="Times New Roman" panose="02020603050405020304" pitchFamily="18" charset="0"/>
                <a:cs typeface="Times New Roman" panose="02020603050405020304" pitchFamily="18" charset="0"/>
              </a:rPr>
              <a:t>. 	How does class imbalance affect attack classification performance?</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Q.3 	</a:t>
            </a:r>
            <a:r>
              <a:rPr lang="en-IE" sz="2500" dirty="0">
                <a:latin typeface="Times New Roman" panose="02020603050405020304" pitchFamily="18" charset="0"/>
                <a:cs typeface="Times New Roman" panose="02020603050405020304" pitchFamily="18" charset="0"/>
              </a:rPr>
              <a:t>Can a lightweight and interpretable model achieve strong IDS performance?</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Q.4</a:t>
            </a:r>
            <a:r>
              <a:rPr lang="en-IE" sz="2500" dirty="0">
                <a:latin typeface="Times New Roman" panose="02020603050405020304" pitchFamily="18" charset="0"/>
                <a:cs typeface="Times New Roman" panose="02020603050405020304" pitchFamily="18" charset="0"/>
              </a:rPr>
              <a:t>	What limitations remain in the selected model?</a:t>
            </a:r>
          </a:p>
        </p:txBody>
      </p:sp>
      <p:sp>
        <p:nvSpPr>
          <p:cNvPr id="42" name="Content Placeholder 2"/>
          <p:cNvSpPr txBox="1">
            <a:spLocks/>
          </p:cNvSpPr>
          <p:nvPr/>
        </p:nvSpPr>
        <p:spPr>
          <a:xfrm>
            <a:off x="33513137" y="22823005"/>
            <a:ext cx="9736942" cy="540864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A summarised answer to the research questions are presented below:</a:t>
            </a:r>
          </a:p>
          <a:p>
            <a:pPr marL="0" indent="0" algn="just" defTabSz="895350">
              <a:buFont typeface="Arial" pitchFamily="34" charset="0"/>
              <a:buNone/>
            </a:pPr>
            <a:endParaRPr lang="en-IE" sz="10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Q.1.</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Both of the studies on the use of a reflective learning journal were 	mostly negative, in that students did not find it beneficial, and in some 	cases, saw it as an additional ungraded piece of assessment .</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Q.2. </a:t>
            </a:r>
            <a:r>
              <a:rPr lang="en-IE" sz="2200" dirty="0">
                <a:latin typeface="Arial" panose="020B0604020202020204" pitchFamily="34" charset="0"/>
                <a:cs typeface="Arial" panose="020B0604020202020204" pitchFamily="34" charset="0"/>
              </a:rPr>
              <a:t>	There was </a:t>
            </a:r>
            <a:r>
              <a:rPr lang="en-IE" sz="2200" i="1" dirty="0">
                <a:latin typeface="Arial" panose="020B0604020202020204" pitchFamily="34" charset="0"/>
                <a:cs typeface="Arial" panose="020B0604020202020204" pitchFamily="34" charset="0"/>
              </a:rPr>
              <a:t>evidence to suggest it does, specifically relating to 	group based activities, and communicating with peers.  However, it is 	difficult to say positive findings were directly linked to the social 	learning activities introduced over the semester.</a:t>
            </a:r>
            <a:endParaRPr lang="en-IE" sz="22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Q.3 </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 use of PBL and PAL was very successful in engaging students in 	computer programming, the students engaged in the activities and 	requested more of these activities in the future.</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Q.4</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There was no strong evidence to suggest social learning improved 	self-efficacy in computer programming, however, there was strong 	evidence found that participating in group work enhances self-efficacy 	in working with others in group activities.</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656519" y="29479722"/>
            <a:ext cx="9736942" cy="262117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None/>
            </a:pPr>
            <a:r>
              <a:rPr lang="en-IE" sz="900" dirty="0">
                <a:latin typeface="Arial" panose="020B0604020202020204" pitchFamily="34" charset="0"/>
                <a:cs typeface="Arial" panose="020B0604020202020204" pitchFamily="34" charset="0"/>
              </a:rPr>
              <a:t>Bandura, A. (1986). Social Foundations of Thought and Action: Social Cognitive Theory. U.S.A: Pearson Education.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Bandura, A. (2006). Guide for constructing self-efficacy scales. In F. </a:t>
            </a:r>
            <a:r>
              <a:rPr lang="en-IE" sz="900" dirty="0" err="1">
                <a:latin typeface="Arial" panose="020B0604020202020204" pitchFamily="34" charset="0"/>
                <a:cs typeface="Arial" panose="020B0604020202020204" pitchFamily="34" charset="0"/>
              </a:rPr>
              <a:t>Pajares</a:t>
            </a:r>
            <a:r>
              <a:rPr lang="en-IE" sz="900" dirty="0">
                <a:latin typeface="Arial" panose="020B0604020202020204" pitchFamily="34" charset="0"/>
                <a:cs typeface="Arial" panose="020B0604020202020204" pitchFamily="34" charset="0"/>
              </a:rPr>
              <a:t>, &amp; T. </a:t>
            </a:r>
            <a:r>
              <a:rPr lang="en-IE" sz="900" dirty="0" err="1">
                <a:latin typeface="Arial" panose="020B0604020202020204" pitchFamily="34" charset="0"/>
                <a:cs typeface="Arial" panose="020B0604020202020204" pitchFamily="34" charset="0"/>
              </a:rPr>
              <a:t>Urdan</a:t>
            </a:r>
            <a:r>
              <a:rPr lang="en-IE" sz="900" dirty="0">
                <a:latin typeface="Arial" panose="020B0604020202020204" pitchFamily="34" charset="0"/>
                <a:cs typeface="Arial" panose="020B0604020202020204" pitchFamily="34" charset="0"/>
              </a:rPr>
              <a:t> (Eds.), Adolescence and education: Vol. 5. Self efficacy and adolescence (pp. 307-337). Greenwich, CT: Information Age.</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Bogdan, R.C., </a:t>
            </a:r>
            <a:r>
              <a:rPr lang="en-IE" sz="900" dirty="0" err="1">
                <a:latin typeface="Arial" panose="020B0604020202020204" pitchFamily="34" charset="0"/>
                <a:cs typeface="Arial" panose="020B0604020202020204" pitchFamily="34" charset="0"/>
              </a:rPr>
              <a:t>Biklin</a:t>
            </a:r>
            <a:r>
              <a:rPr lang="en-IE" sz="900" dirty="0">
                <a:latin typeface="Arial" panose="020B0604020202020204" pitchFamily="34" charset="0"/>
                <a:cs typeface="Arial" panose="020B0604020202020204" pitchFamily="34" charset="0"/>
              </a:rPr>
              <a:t>, S.K. (1998). Qualitative research for education: An introduction to theory and methods. (3rd edition).  Boston: </a:t>
            </a:r>
            <a:r>
              <a:rPr lang="en-IE" sz="900" dirty="0" err="1">
                <a:latin typeface="Arial" panose="020B0604020202020204" pitchFamily="34" charset="0"/>
                <a:cs typeface="Arial" panose="020B0604020202020204" pitchFamily="34" charset="0"/>
              </a:rPr>
              <a:t>Allyn</a:t>
            </a:r>
            <a:r>
              <a:rPr lang="en-IE" sz="900" dirty="0">
                <a:latin typeface="Arial" panose="020B0604020202020204" pitchFamily="34" charset="0"/>
                <a:cs typeface="Arial" panose="020B0604020202020204" pitchFamily="34" charset="0"/>
              </a:rPr>
              <a:t> and Bacon.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Bryman, A. (2004). Social Research Methods.  U.K.: Oxford University Press.</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Creswell, J.W., Miller, G.A. (1997).  Research Methodologies and Doctoral Process.  New Directions for Higher Education, no.99.  U.S.A.: Wiley.</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Hamir, S., </a:t>
            </a:r>
            <a:r>
              <a:rPr lang="en-IE" sz="900" dirty="0" err="1">
                <a:latin typeface="Arial" panose="020B0604020202020204" pitchFamily="34" charset="0"/>
                <a:cs typeface="Arial" panose="020B0604020202020204" pitchFamily="34" charset="0"/>
              </a:rPr>
              <a:t>Maion</a:t>
            </a:r>
            <a:r>
              <a:rPr lang="en-IE" sz="900" dirty="0">
                <a:latin typeface="Arial" panose="020B0604020202020204" pitchFamily="34" charset="0"/>
                <a:cs typeface="Arial" panose="020B0604020202020204" pitchFamily="34" charset="0"/>
              </a:rPr>
              <a:t>, S., Tice, S., &amp; Wideman, A. (2015) Constructivism in</a:t>
            </a:r>
          </a:p>
          <a:p>
            <a:pPr marL="0" indent="0" algn="just" defTabSz="895350">
              <a:buNone/>
            </a:pPr>
            <a:r>
              <a:rPr lang="en-IE" sz="900" dirty="0">
                <a:latin typeface="Arial" panose="020B0604020202020204" pitchFamily="34" charset="0"/>
                <a:cs typeface="Arial" panose="020B0604020202020204" pitchFamily="34" charset="0"/>
              </a:rPr>
              <a:t>Education. Available at: http://constructivism512.weebly.com . Accessed 27th February 2018.</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Miles, M.B., &amp; Huberman, A.M. (1994). Qualitative data analysis: A sourcebook of new methods.  Thousand Oaks, CA: Sage.</a:t>
            </a:r>
          </a:p>
        </p:txBody>
      </p:sp>
      <p:pic>
        <p:nvPicPr>
          <p:cNvPr id="7" name="Picture 6">
            <a:extLst>
              <a:ext uri="{FF2B5EF4-FFF2-40B4-BE49-F238E27FC236}">
                <a16:creationId xmlns:a16="http://schemas.microsoft.com/office/drawing/2014/main" id="{86F2D775-B43E-2D1B-5ECE-DD93EC61B7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3763" y="20921667"/>
            <a:ext cx="6339073" cy="6339073"/>
          </a:xfrm>
          <a:prstGeom prst="rect">
            <a:avLst/>
          </a:prstGeom>
        </p:spPr>
      </p:pic>
      <p:sp>
        <p:nvSpPr>
          <p:cNvPr id="21" name="Text Placeholder 5">
            <a:extLst>
              <a:ext uri="{FF2B5EF4-FFF2-40B4-BE49-F238E27FC236}">
                <a16:creationId xmlns:a16="http://schemas.microsoft.com/office/drawing/2014/main" id="{348892E9-080F-B06A-105A-7860166FB512}"/>
              </a:ext>
            </a:extLst>
          </p:cNvPr>
          <p:cNvSpPr txBox="1">
            <a:spLocks/>
          </p:cNvSpPr>
          <p:nvPr/>
        </p:nvSpPr>
        <p:spPr>
          <a:xfrm>
            <a:off x="22225422" y="581530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MODELLING</a:t>
            </a:r>
          </a:p>
        </p:txBody>
      </p:sp>
      <p:sp>
        <p:nvSpPr>
          <p:cNvPr id="50" name="Text Placeholder 4">
            <a:extLst>
              <a:ext uri="{FF2B5EF4-FFF2-40B4-BE49-F238E27FC236}">
                <a16:creationId xmlns:a16="http://schemas.microsoft.com/office/drawing/2014/main" id="{4D0FFE05-CCA1-CB00-4EC8-B1F783EEA1FC}"/>
              </a:ext>
            </a:extLst>
          </p:cNvPr>
          <p:cNvSpPr txBox="1">
            <a:spLocks/>
          </p:cNvSpPr>
          <p:nvPr/>
        </p:nvSpPr>
        <p:spPr>
          <a:xfrm>
            <a:off x="11427502" y="6240358"/>
            <a:ext cx="10048874" cy="592467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The Data Understanding phase focused on analyzing the CICIDS2017 dataset before preprocessing and modelling. The dataset was developed and publicly released by the Canadian Institute for Cybersecurity (CIC) at the University of New Brunswick, Canada, and contains benign and the most up-to-date common attacks, which resembles the true real-world data (PCAPs). It also includes the results of network traffics using </a:t>
            </a:r>
            <a:r>
              <a:rPr lang="en-US" dirty="0" err="1">
                <a:solidFill>
                  <a:schemeClr val="tx1"/>
                </a:solidFill>
              </a:rPr>
              <a:t>CICFlowMeter</a:t>
            </a:r>
            <a:r>
              <a:rPr lang="en-US" dirty="0">
                <a:solidFill>
                  <a:schemeClr val="tx1"/>
                </a:solidFill>
              </a:rPr>
              <a:t> with labeled flows based on the time stamp, source, and destination IPs, source and destination ports, protocols and attack </a:t>
            </a:r>
            <a:r>
              <a:rPr lang="en-IE" dirty="0">
                <a:solidFill>
                  <a:schemeClr val="tx1"/>
                </a:solidFill>
              </a:rPr>
              <a:t>(</a:t>
            </a:r>
            <a:r>
              <a:rPr lang="en-IE" dirty="0" err="1">
                <a:solidFill>
                  <a:schemeClr val="tx1"/>
                </a:solidFill>
              </a:rPr>
              <a:t>Sharafaldin</a:t>
            </a:r>
            <a:r>
              <a:rPr lang="en-IE" dirty="0">
                <a:solidFill>
                  <a:schemeClr val="tx1"/>
                </a:solidFill>
              </a:rPr>
              <a:t> et al., 2018).</a:t>
            </a:r>
            <a:endParaRPr lang="en-US" dirty="0">
              <a:solidFill>
                <a:schemeClr val="tx1"/>
              </a:solidFill>
            </a:endParaRPr>
          </a:p>
          <a:p>
            <a:pPr algn="just"/>
            <a:r>
              <a:rPr lang="en-US" dirty="0">
                <a:solidFill>
                  <a:schemeClr val="tx1"/>
                </a:solidFill>
              </a:rPr>
              <a:t>The dataset was presented in 8 different CSV files, with different traffic’s period and attacks scenario. The dataset after merging had 2,830,743 rows and 79 columns. A total of 1,358 missing values were removed, and we constate that the dataset was very unbalanced, having 80.3% of benign traffic.</a:t>
            </a:r>
          </a:p>
        </p:txBody>
      </p:sp>
      <p:pic>
        <p:nvPicPr>
          <p:cNvPr id="56" name="Picture 55">
            <a:extLst>
              <a:ext uri="{FF2B5EF4-FFF2-40B4-BE49-F238E27FC236}">
                <a16:creationId xmlns:a16="http://schemas.microsoft.com/office/drawing/2014/main" id="{F061BFD2-4BA2-5E5B-C1D2-F9044DF3C4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60599" y="11948369"/>
            <a:ext cx="9782680" cy="5559941"/>
          </a:xfrm>
          <a:prstGeom prst="rect">
            <a:avLst/>
          </a:prstGeom>
        </p:spPr>
      </p:pic>
      <p:sp>
        <p:nvSpPr>
          <p:cNvPr id="63" name="Text Placeholder 5">
            <a:extLst>
              <a:ext uri="{FF2B5EF4-FFF2-40B4-BE49-F238E27FC236}">
                <a16:creationId xmlns:a16="http://schemas.microsoft.com/office/drawing/2014/main" id="{40E268E3-721A-232C-8012-F93EDC4562D5}"/>
              </a:ext>
            </a:extLst>
          </p:cNvPr>
          <p:cNvSpPr txBox="1">
            <a:spLocks/>
          </p:cNvSpPr>
          <p:nvPr/>
        </p:nvSpPr>
        <p:spPr>
          <a:xfrm>
            <a:off x="11307498" y="567957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 DATA UNDERSTANDING</a:t>
            </a:r>
          </a:p>
        </p:txBody>
      </p:sp>
      <p:sp>
        <p:nvSpPr>
          <p:cNvPr id="4096" name="Text Placeholder 4">
            <a:extLst>
              <a:ext uri="{FF2B5EF4-FFF2-40B4-BE49-F238E27FC236}">
                <a16:creationId xmlns:a16="http://schemas.microsoft.com/office/drawing/2014/main" id="{03EAC74A-226B-6D49-669C-28C272905BB7}"/>
              </a:ext>
            </a:extLst>
          </p:cNvPr>
          <p:cNvSpPr txBox="1">
            <a:spLocks/>
          </p:cNvSpPr>
          <p:nvPr/>
        </p:nvSpPr>
        <p:spPr>
          <a:xfrm>
            <a:off x="539637" y="28368017"/>
            <a:ext cx="10048874" cy="3924129"/>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Modern organizations increasingly depend on networks, cloud systems, remote access, and online services to support their operations, which also increases their exposure to cyber threats capable of causing downtime, data exposure, financial loss, and reputational damage (O'Donovan, 2025). While larger organizations often have dedicated cybersecurity teams, advanced monitoring systems, and stronger financial resources, many SMEs and smaller organizations operate with limited IT infrastructure and without specialized cybersecurity personnel, making them more vulnerable to network attacks and delayed threat detection (Zamani, 2022).</a:t>
            </a:r>
          </a:p>
        </p:txBody>
      </p:sp>
      <p:sp>
        <p:nvSpPr>
          <p:cNvPr id="4108" name="Text Placeholder 5">
            <a:extLst>
              <a:ext uri="{FF2B5EF4-FFF2-40B4-BE49-F238E27FC236}">
                <a16:creationId xmlns:a16="http://schemas.microsoft.com/office/drawing/2014/main" id="{D016A331-906B-1081-14A0-79F2EA8644B6}"/>
              </a:ext>
            </a:extLst>
          </p:cNvPr>
          <p:cNvSpPr txBox="1">
            <a:spLocks/>
          </p:cNvSpPr>
          <p:nvPr/>
        </p:nvSpPr>
        <p:spPr>
          <a:xfrm>
            <a:off x="11294404" y="17669901"/>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 DATA PREPARATION</a:t>
            </a:r>
          </a:p>
        </p:txBody>
      </p:sp>
      <p:sp>
        <p:nvSpPr>
          <p:cNvPr id="4109" name="Text Placeholder 4">
            <a:extLst>
              <a:ext uri="{FF2B5EF4-FFF2-40B4-BE49-F238E27FC236}">
                <a16:creationId xmlns:a16="http://schemas.microsoft.com/office/drawing/2014/main" id="{AE35C184-D179-575B-3E66-83C93DF91809}"/>
              </a:ext>
            </a:extLst>
          </p:cNvPr>
          <p:cNvSpPr txBox="1">
            <a:spLocks/>
          </p:cNvSpPr>
          <p:nvPr/>
        </p:nvSpPr>
        <p:spPr>
          <a:xfrm>
            <a:off x="11500720" y="18285473"/>
            <a:ext cx="10048874" cy="5078291"/>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The Data Preparation Phase focused on transforming the CICIDS2017 dataset, the source data upon which the automated intelligent security technology will operate, from the cleaned format into a structured format that is suitable for the purposes of machine learning modelling. During this phase, multiple pre-processing techniques were applied including; defining a target, separating the features from the target, label encoding of the target variables, correlation-based feature selection (CFS), splitting the dataset into train/test datasets, scaling features and preparing the dataset to control for the multiple class types. These stages were valuable to the preparation of a reduced dataset, enhance data quality and create models that are compatible with the requirements of the proposed IDS solution while maintaining the lightweight objective.</a:t>
            </a:r>
          </a:p>
        </p:txBody>
      </p:sp>
      <p:pic>
        <p:nvPicPr>
          <p:cNvPr id="4111" name="Picture 4110">
            <a:extLst>
              <a:ext uri="{FF2B5EF4-FFF2-40B4-BE49-F238E27FC236}">
                <a16:creationId xmlns:a16="http://schemas.microsoft.com/office/drawing/2014/main" id="{CFF2CB3B-095D-01C2-0072-F9F3186914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91690" y="23322901"/>
            <a:ext cx="9680489" cy="6710281"/>
          </a:xfrm>
          <a:prstGeom prst="rect">
            <a:avLst/>
          </a:prstGeom>
        </p:spPr>
      </p:pic>
      <p:sp>
        <p:nvSpPr>
          <p:cNvPr id="4113" name="Text Placeholder 4112">
            <a:extLst>
              <a:ext uri="{FF2B5EF4-FFF2-40B4-BE49-F238E27FC236}">
                <a16:creationId xmlns:a16="http://schemas.microsoft.com/office/drawing/2014/main" id="{C3E8964B-EB47-3109-E00C-B3251A6A5F96}"/>
              </a:ext>
            </a:extLst>
          </p:cNvPr>
          <p:cNvSpPr>
            <a:spLocks noGrp="1"/>
          </p:cNvSpPr>
          <p:nvPr>
            <p:ph type="body" sz="quarter" idx="28"/>
          </p:nvPr>
        </p:nvSpPr>
        <p:spPr/>
        <p:txBody>
          <a:bodyPr/>
          <a:lstStyle/>
          <a:p>
            <a:endParaRPr lang="en-IE"/>
          </a:p>
        </p:txBody>
      </p:sp>
      <p:sp>
        <p:nvSpPr>
          <p:cNvPr id="4116" name="Text Placeholder 5">
            <a:extLst>
              <a:ext uri="{FF2B5EF4-FFF2-40B4-BE49-F238E27FC236}">
                <a16:creationId xmlns:a16="http://schemas.microsoft.com/office/drawing/2014/main" id="{C31B5985-E191-5737-D2C8-DBB16C148A9F}"/>
              </a:ext>
            </a:extLst>
          </p:cNvPr>
          <p:cNvSpPr txBox="1">
            <a:spLocks/>
          </p:cNvSpPr>
          <p:nvPr/>
        </p:nvSpPr>
        <p:spPr>
          <a:xfrm>
            <a:off x="22351409" y="1386202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EVALUATION</a:t>
            </a:r>
          </a:p>
        </p:txBody>
      </p:sp>
      <p:sp>
        <p:nvSpPr>
          <p:cNvPr id="4117" name="Text Placeholder 8">
            <a:extLst>
              <a:ext uri="{FF2B5EF4-FFF2-40B4-BE49-F238E27FC236}">
                <a16:creationId xmlns:a16="http://schemas.microsoft.com/office/drawing/2014/main" id="{BDC9C4BD-36DF-2030-36EF-646D925E6A7E}"/>
              </a:ext>
            </a:extLst>
          </p:cNvPr>
          <p:cNvSpPr txBox="1">
            <a:spLocks/>
          </p:cNvSpPr>
          <p:nvPr/>
        </p:nvSpPr>
        <p:spPr>
          <a:xfrm>
            <a:off x="23207225" y="24690506"/>
            <a:ext cx="10047018" cy="677100"/>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dirty="0">
                <a:solidFill>
                  <a:schemeClr val="tx2"/>
                </a:solidFill>
                <a:latin typeface="Arial" panose="020B0604020202020204" pitchFamily="34" charset="0"/>
                <a:cs typeface="Arial" panose="020B0604020202020204" pitchFamily="34" charset="0"/>
              </a:rPr>
              <a:t>DEPLOYMENT</a:t>
            </a:r>
          </a:p>
        </p:txBody>
      </p:sp>
      <p:pic>
        <p:nvPicPr>
          <p:cNvPr id="4119" name="Picture 4118">
            <a:extLst>
              <a:ext uri="{FF2B5EF4-FFF2-40B4-BE49-F238E27FC236}">
                <a16:creationId xmlns:a16="http://schemas.microsoft.com/office/drawing/2014/main" id="{FD2A59F4-C1E0-C700-274B-9209CEFCD8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829" y="2232751"/>
            <a:ext cx="6406905" cy="2213942"/>
          </a:xfrm>
          <a:prstGeom prst="rect">
            <a:avLst/>
          </a:prstGeom>
        </p:spPr>
      </p:pic>
      <p:sp>
        <p:nvSpPr>
          <p:cNvPr id="5" name="Text Placeholder 4">
            <a:extLst>
              <a:ext uri="{FF2B5EF4-FFF2-40B4-BE49-F238E27FC236}">
                <a16:creationId xmlns:a16="http://schemas.microsoft.com/office/drawing/2014/main" id="{DC026B65-4586-C30B-A59A-7943EB102EF1}"/>
              </a:ext>
            </a:extLst>
          </p:cNvPr>
          <p:cNvSpPr txBox="1">
            <a:spLocks/>
          </p:cNvSpPr>
          <p:nvPr/>
        </p:nvSpPr>
        <p:spPr>
          <a:xfrm>
            <a:off x="22451604" y="6383075"/>
            <a:ext cx="10048874" cy="747894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Three machine learning models were tested to classify network traffic: </a:t>
            </a:r>
            <a:r>
              <a:rPr lang="en-US" b="1" dirty="0">
                <a:solidFill>
                  <a:schemeClr val="tx1"/>
                </a:solidFill>
              </a:rPr>
              <a:t>Logistic Regression</a:t>
            </a:r>
            <a:r>
              <a:rPr lang="en-US" dirty="0">
                <a:solidFill>
                  <a:schemeClr val="tx1"/>
                </a:solidFill>
              </a:rPr>
              <a:t>, </a:t>
            </a:r>
            <a:r>
              <a:rPr lang="en-US" b="1" dirty="0">
                <a:solidFill>
                  <a:schemeClr val="tx1"/>
                </a:solidFill>
              </a:rPr>
              <a:t>Random Forest </a:t>
            </a:r>
            <a:r>
              <a:rPr lang="en-US" dirty="0">
                <a:solidFill>
                  <a:schemeClr val="tx1"/>
                </a:solidFill>
              </a:rPr>
              <a:t>and </a:t>
            </a:r>
            <a:r>
              <a:rPr lang="en-US" b="1" dirty="0">
                <a:solidFill>
                  <a:schemeClr val="tx1"/>
                </a:solidFill>
              </a:rPr>
              <a:t>Decision Tree</a:t>
            </a:r>
            <a:r>
              <a:rPr lang="en-US" dirty="0">
                <a:solidFill>
                  <a:schemeClr val="tx1"/>
                </a:solidFill>
              </a:rPr>
              <a:t>.</a:t>
            </a:r>
          </a:p>
          <a:p>
            <a:pPr algn="just"/>
            <a:r>
              <a:rPr lang="en-US" dirty="0">
                <a:solidFill>
                  <a:schemeClr val="tx1"/>
                </a:solidFill>
              </a:rPr>
              <a:t>The models were tested using three dataset strategies: </a:t>
            </a:r>
          </a:p>
          <a:p>
            <a:pPr algn="just"/>
            <a:r>
              <a:rPr lang="en-US" b="1" dirty="0">
                <a:solidFill>
                  <a:schemeClr val="tx1"/>
                </a:solidFill>
              </a:rPr>
              <a:t>Full Dataset: </a:t>
            </a:r>
            <a:r>
              <a:rPr lang="en-US" dirty="0">
                <a:solidFill>
                  <a:schemeClr val="tx1"/>
                </a:solidFill>
              </a:rPr>
              <a:t>Kept all 15 traffic classes.</a:t>
            </a:r>
          </a:p>
          <a:p>
            <a:pPr algn="just"/>
            <a:r>
              <a:rPr lang="en-US" b="1" dirty="0">
                <a:solidFill>
                  <a:schemeClr val="tx1"/>
                </a:solidFill>
              </a:rPr>
              <a:t>Capped Dataset: </a:t>
            </a:r>
            <a:r>
              <a:rPr lang="en-US" dirty="0">
                <a:solidFill>
                  <a:schemeClr val="tx1"/>
                </a:solidFill>
              </a:rPr>
              <a:t>Limited large classes to 10,000 records.</a:t>
            </a:r>
          </a:p>
          <a:p>
            <a:pPr algn="just"/>
            <a:r>
              <a:rPr lang="en-US" b="1" dirty="0">
                <a:solidFill>
                  <a:schemeClr val="tx1"/>
                </a:solidFill>
              </a:rPr>
              <a:t>Controlled Dataset: </a:t>
            </a:r>
            <a:r>
              <a:rPr lang="en-US" dirty="0">
                <a:solidFill>
                  <a:schemeClr val="tx1"/>
                </a:solidFill>
              </a:rPr>
              <a:t>Removed classes with fewer than 1,000 records.</a:t>
            </a:r>
          </a:p>
          <a:p>
            <a:pPr algn="just"/>
            <a:r>
              <a:rPr lang="en-US" dirty="0">
                <a:solidFill>
                  <a:schemeClr val="tx1"/>
                </a:solidFill>
              </a:rPr>
              <a:t>Baseline and balanced versions were tested using </a:t>
            </a:r>
            <a:r>
              <a:rPr lang="en-US" sz="2400" i="1" dirty="0" err="1">
                <a:solidFill>
                  <a:schemeClr val="tx1"/>
                </a:solidFill>
              </a:rPr>
              <a:t>class_weight</a:t>
            </a:r>
            <a:r>
              <a:rPr lang="en-US" sz="2400" i="1" dirty="0">
                <a:solidFill>
                  <a:schemeClr val="tx1"/>
                </a:solidFill>
              </a:rPr>
              <a:t>=“balanced”</a:t>
            </a:r>
            <a:r>
              <a:rPr lang="en-US" sz="2400" dirty="0">
                <a:solidFill>
                  <a:schemeClr val="tx1"/>
                </a:solidFill>
              </a:rPr>
              <a:t> </a:t>
            </a:r>
            <a:r>
              <a:rPr lang="en-US" dirty="0">
                <a:solidFill>
                  <a:schemeClr val="tx1"/>
                </a:solidFill>
              </a:rPr>
              <a:t>to improve minority-class detection.</a:t>
            </a:r>
          </a:p>
          <a:p>
            <a:pPr algn="just"/>
            <a:r>
              <a:rPr lang="en-US" dirty="0">
                <a:solidFill>
                  <a:schemeClr val="tx1"/>
                </a:solidFill>
              </a:rPr>
              <a:t>Decision Tree and Random Forest were trained on the raw datasets, while Logistic Regression used scaled data because it is sensitive to feature magnitude.</a:t>
            </a:r>
          </a:p>
          <a:p>
            <a:pPr algn="just"/>
            <a:r>
              <a:rPr lang="en-US" dirty="0">
                <a:solidFill>
                  <a:schemeClr val="tx1"/>
                </a:solidFill>
              </a:rPr>
              <a:t>After the first results, two tuned Decision Tree versions were also tested. The final tuned version used:</a:t>
            </a:r>
          </a:p>
          <a:p>
            <a:pPr algn="ctr"/>
            <a:r>
              <a:rPr lang="en-US" sz="2000" i="1" dirty="0">
                <a:solidFill>
                  <a:schemeClr val="tx1"/>
                </a:solidFill>
              </a:rPr>
              <a:t>criterion = “</a:t>
            </a:r>
            <a:r>
              <a:rPr lang="en-US" sz="2000" i="1" dirty="0" err="1">
                <a:solidFill>
                  <a:schemeClr val="tx1"/>
                </a:solidFill>
              </a:rPr>
              <a:t>log_loss</a:t>
            </a:r>
            <a:r>
              <a:rPr lang="en-US" sz="2000" i="1" dirty="0">
                <a:solidFill>
                  <a:schemeClr val="tx1"/>
                </a:solidFill>
              </a:rPr>
              <a:t>”</a:t>
            </a:r>
          </a:p>
          <a:p>
            <a:pPr algn="ctr"/>
            <a:r>
              <a:rPr lang="en-US" sz="2000" i="1" dirty="0" err="1">
                <a:solidFill>
                  <a:schemeClr val="tx1"/>
                </a:solidFill>
              </a:rPr>
              <a:t>class_weight</a:t>
            </a:r>
            <a:r>
              <a:rPr lang="en-US" sz="2000" i="1" dirty="0">
                <a:solidFill>
                  <a:schemeClr val="tx1"/>
                </a:solidFill>
              </a:rPr>
              <a:t> = “balanced”</a:t>
            </a:r>
          </a:p>
          <a:p>
            <a:pPr algn="ctr"/>
            <a:r>
              <a:rPr lang="en-US" sz="2000" i="1" dirty="0" err="1">
                <a:solidFill>
                  <a:schemeClr val="tx1"/>
                </a:solidFill>
              </a:rPr>
              <a:t>min_samples_split</a:t>
            </a:r>
            <a:r>
              <a:rPr lang="en-US" sz="2000" i="1" dirty="0">
                <a:solidFill>
                  <a:schemeClr val="tx1"/>
                </a:solidFill>
              </a:rPr>
              <a:t> = 3</a:t>
            </a:r>
          </a:p>
          <a:p>
            <a:pPr algn="ctr"/>
            <a:r>
              <a:rPr lang="en-US" sz="2000" i="1" dirty="0" err="1">
                <a:solidFill>
                  <a:schemeClr val="tx1"/>
                </a:solidFill>
              </a:rPr>
              <a:t>random_state</a:t>
            </a:r>
            <a:r>
              <a:rPr lang="en-US" sz="2000" i="1" dirty="0">
                <a:solidFill>
                  <a:schemeClr val="tx1"/>
                </a:solidFill>
              </a:rPr>
              <a:t> = 42</a:t>
            </a:r>
          </a:p>
        </p:txBody>
      </p:sp>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3598</TotalTime>
  <Words>1434</Words>
  <Application>Microsoft Office PowerPoint</Application>
  <PresentationFormat>Personalizar</PresentationFormat>
  <Paragraphs>60</Paragraphs>
  <Slides>1</Slides>
  <Notes>1</Notes>
  <HiddenSlides>0</HiddenSlides>
  <MMClips>0</MMClips>
  <ScaleCrop>false</ScaleCrop>
  <HeadingPairs>
    <vt:vector size="4" baseType="variant">
      <vt:variant>
        <vt:lpstr>Tema</vt:lpstr>
      </vt:variant>
      <vt:variant>
        <vt:i4>3</vt:i4>
      </vt:variant>
      <vt:variant>
        <vt:lpstr>Títulos de slides</vt:lpstr>
      </vt:variant>
      <vt:variant>
        <vt:i4>1</vt:i4>
      </vt:variant>
    </vt:vector>
  </HeadingPairs>
  <TitlesOfParts>
    <vt:vector size="4" baseType="lpstr">
      <vt:lpstr>36x48-Template-V2b</vt:lpstr>
      <vt:lpstr>1_Classic 3 Columns</vt:lpstr>
      <vt:lpstr>Classic - Wide Center</vt:lpstr>
      <vt:lpstr>Apresentação do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Thiago Gonçalves</cp:lastModifiedBy>
  <cp:revision>134</cp:revision>
  <dcterms:created xsi:type="dcterms:W3CDTF">2012-02-03T19:11:35Z</dcterms:created>
  <dcterms:modified xsi:type="dcterms:W3CDTF">2026-05-27T20:11:50Z</dcterms:modified>
</cp:coreProperties>
</file>