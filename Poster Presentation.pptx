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8"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orient="horz" pos="3298">
          <p15:clr>
            <a:srgbClr val="A4A3A4"/>
          </p15:clr>
        </p15:guide>
        <p15:guide id="8" orient="horz" pos="20735">
          <p15:clr>
            <a:srgbClr val="A4A3A4"/>
          </p15:clr>
        </p15:guide>
        <p15:guide id="9" pos="320">
          <p15:clr>
            <a:srgbClr val="A4A3A4"/>
          </p15:clr>
        </p15:guide>
        <p15:guide id="10" pos="2764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DB924E-6AE5-4C8B-92A2-E13E5F2C0196}" v="27" dt="2026-05-27T19:51:35.042"/>
    <p1510:client id="{D6BF3BDA-612A-C84B-B48F-C5B667FBC9FE}" v="1" dt="2026-05-27T19:54:02.0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170" autoAdjust="0"/>
    <p:restoredTop sz="87589" autoAdjust="0"/>
  </p:normalViewPr>
  <p:slideViewPr>
    <p:cSldViewPr snapToGrid="0" snapToObjects="1" showGuides="1">
      <p:cViewPr>
        <p:scale>
          <a:sx n="47" d="100"/>
          <a:sy n="47" d="100"/>
        </p:scale>
        <p:origin x="2216" y="-976"/>
      </p:cViewPr>
      <p:guideLst>
        <p:guide orient="horz" pos="3318"/>
        <p:guide orient="horz" pos="288"/>
        <p:guide orient="horz" pos="20160"/>
        <p:guide orient="horz"/>
        <p:guide pos="581"/>
        <p:guide pos="27069"/>
        <p:guide orient="horz" pos="3298"/>
        <p:guide orient="horz" pos="20735"/>
        <p:guide pos="320"/>
        <p:guide pos="2764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5/30/26</a:t>
            </a:fld>
            <a:endParaRPr lang="en-US"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dirty="0"/>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dirty="0"/>
          </a:p>
        </p:txBody>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76264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91425"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09578"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09576"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58541"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58541"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58541"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58541"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58541"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58541"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91425"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5154276" y="2159508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5154276" y="20739663"/>
            <a:ext cx="13571534"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9395741" y="25845657"/>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9395742" y="26625887"/>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0600"/>
            <a:ext cx="43891200" cy="4571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2" name="Rounded Rectangle 1"/>
          <p:cNvSpPr/>
          <p:nvPr userDrawn="1"/>
        </p:nvSpPr>
        <p:spPr>
          <a:xfrm>
            <a:off x="477824" y="5475145"/>
            <a:ext cx="10058400" cy="26736675"/>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ounded Rectangle 22"/>
          <p:cNvSpPr/>
          <p:nvPr userDrawn="1"/>
        </p:nvSpPr>
        <p:spPr>
          <a:xfrm>
            <a:off x="11439521" y="5475145"/>
            <a:ext cx="10058400" cy="26736675"/>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ounded Rectangle 23"/>
          <p:cNvSpPr/>
          <p:nvPr userDrawn="1"/>
        </p:nvSpPr>
        <p:spPr>
          <a:xfrm>
            <a:off x="22401218" y="5475145"/>
            <a:ext cx="10058400" cy="26736675"/>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ounded Rectangle 25"/>
          <p:cNvSpPr/>
          <p:nvPr userDrawn="1"/>
        </p:nvSpPr>
        <p:spPr>
          <a:xfrm>
            <a:off x="33362914" y="5475145"/>
            <a:ext cx="10058400" cy="26736675"/>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0" name="Group 29"/>
          <p:cNvGrpSpPr/>
          <p:nvPr userDrawn="1"/>
        </p:nvGrpSpPr>
        <p:grpSpPr>
          <a:xfrm>
            <a:off x="-11225189" y="-1"/>
            <a:ext cx="11018865" cy="32918401"/>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7"/>
              <a:ext cx="7531182" cy="2120439"/>
              <a:chOff x="-4470427" y="11016658"/>
              <a:chExt cx="3470785" cy="974220"/>
            </a:xfrm>
          </p:grpSpPr>
          <p:grpSp>
            <p:nvGrpSpPr>
              <p:cNvPr id="46" name="Group 45"/>
              <p:cNvGrpSpPr/>
              <p:nvPr userDrawn="1"/>
            </p:nvGrpSpPr>
            <p:grpSpPr>
              <a:xfrm>
                <a:off x="-2783495" y="11060886"/>
                <a:ext cx="624431" cy="893535"/>
                <a:chOff x="-3958697" y="11117435"/>
                <a:chExt cx="779338" cy="1280430"/>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47" name="Group 46"/>
              <p:cNvGrpSpPr/>
              <p:nvPr userDrawn="1"/>
            </p:nvGrpSpPr>
            <p:grpSpPr>
              <a:xfrm>
                <a:off x="-2033159" y="11060889"/>
                <a:ext cx="1033517" cy="893529"/>
                <a:chOff x="-2921738" y="11200127"/>
                <a:chExt cx="1420279" cy="1227904"/>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39" name="Group 38"/>
            <p:cNvGrpSpPr/>
            <p:nvPr userDrawn="1"/>
          </p:nvGrpSpPr>
          <p:grpSpPr>
            <a:xfrm>
              <a:off x="-10398793" y="27751410"/>
              <a:ext cx="9323012" cy="2453251"/>
              <a:chOff x="-4754996" y="12734136"/>
              <a:chExt cx="4296559"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41" name="Object 40"/>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43" name="Object 42"/>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45" name="TextBox 44"/>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grpSp>
        <p:nvGrpSpPr>
          <p:cNvPr id="54" name="Group 53"/>
          <p:cNvGrpSpPr/>
          <p:nvPr userDrawn="1"/>
        </p:nvGrpSpPr>
        <p:grpSpPr>
          <a:xfrm>
            <a:off x="44157839" y="-55065"/>
            <a:ext cx="11062139" cy="3297346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56" name="Object 55"/>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58" name="Object 57"/>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Facebook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60" name="TextBox 5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922338"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ounded Rectangle 21"/>
          <p:cNvSpPr/>
          <p:nvPr userDrawn="1"/>
        </p:nvSpPr>
        <p:spPr>
          <a:xfrm>
            <a:off x="15154504" y="5392017"/>
            <a:ext cx="13577436" cy="26736675"/>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ounded Rectangle 22"/>
          <p:cNvSpPr/>
          <p:nvPr userDrawn="1"/>
        </p:nvSpPr>
        <p:spPr>
          <a:xfrm>
            <a:off x="29386670"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4" name="Group 43"/>
          <p:cNvGrpSpPr/>
          <p:nvPr userDrawn="1"/>
        </p:nvGrpSpPr>
        <p:grpSpPr>
          <a:xfrm>
            <a:off x="44157839" y="-55065"/>
            <a:ext cx="11062139" cy="3297346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6" name="Object 45"/>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8" name="Object 47"/>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Facebook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50" name="TextBox 4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4" name="Group 53"/>
          <p:cNvGrpSpPr/>
          <p:nvPr userDrawn="1"/>
        </p:nvGrpSpPr>
        <p:grpSpPr>
          <a:xfrm>
            <a:off x="-11225189" y="-1"/>
            <a:ext cx="11018865" cy="32918401"/>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7"/>
              <a:ext cx="7531182" cy="2120439"/>
              <a:chOff x="-4470427" y="11016658"/>
              <a:chExt cx="3470785" cy="974220"/>
            </a:xfrm>
          </p:grpSpPr>
          <p:grpSp>
            <p:nvGrpSpPr>
              <p:cNvPr id="65" name="Group 64"/>
              <p:cNvGrpSpPr/>
              <p:nvPr userDrawn="1"/>
            </p:nvGrpSpPr>
            <p:grpSpPr>
              <a:xfrm>
                <a:off x="-2783495" y="11060886"/>
                <a:ext cx="624431" cy="893535"/>
                <a:chOff x="-3958697" y="11117435"/>
                <a:chExt cx="779338" cy="1280430"/>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6" name="Group 65"/>
              <p:cNvGrpSpPr/>
              <p:nvPr userDrawn="1"/>
            </p:nvGrpSpPr>
            <p:grpSpPr>
              <a:xfrm>
                <a:off x="-2033159" y="11060889"/>
                <a:ext cx="1033517" cy="893529"/>
                <a:chOff x="-2921738" y="11200127"/>
                <a:chExt cx="1420279" cy="1227904"/>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60" name="Group 59"/>
            <p:cNvGrpSpPr/>
            <p:nvPr userDrawn="1"/>
          </p:nvGrpSpPr>
          <p:grpSpPr>
            <a:xfrm>
              <a:off x="-10398793" y="27751410"/>
              <a:ext cx="9323012" cy="2453251"/>
              <a:chOff x="-4754996" y="12734136"/>
              <a:chExt cx="4296559"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1" name="Object 60"/>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2" name="Object 61"/>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4" name="TextBox 63"/>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40"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sp>
        <p:nvSpPr>
          <p:cNvPr id="21" name="Rounded Rectangle 20"/>
          <p:cNvSpPr/>
          <p:nvPr userDrawn="1"/>
        </p:nvSpPr>
        <p:spPr>
          <a:xfrm>
            <a:off x="922338"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ounded Rectangle 21"/>
          <p:cNvSpPr/>
          <p:nvPr userDrawn="1"/>
        </p:nvSpPr>
        <p:spPr>
          <a:xfrm>
            <a:off x="32918400"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ounded Rectangle 22"/>
          <p:cNvSpPr/>
          <p:nvPr userDrawn="1"/>
        </p:nvSpPr>
        <p:spPr>
          <a:xfrm>
            <a:off x="11583194" y="5267325"/>
            <a:ext cx="20724813" cy="26736675"/>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3" name="Group 42"/>
          <p:cNvGrpSpPr/>
          <p:nvPr userDrawn="1"/>
        </p:nvGrpSpPr>
        <p:grpSpPr>
          <a:xfrm>
            <a:off x="44157839" y="-55065"/>
            <a:ext cx="11062139" cy="3297346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45" name="Object 44"/>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47" name="Object 46"/>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Facebook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49" name="TextBox 48"/>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3" name="Group 52"/>
          <p:cNvGrpSpPr/>
          <p:nvPr userDrawn="1"/>
        </p:nvGrpSpPr>
        <p:grpSpPr>
          <a:xfrm>
            <a:off x="-11225189" y="-1"/>
            <a:ext cx="11018865" cy="32918401"/>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7"/>
              <a:ext cx="7531182" cy="2120439"/>
              <a:chOff x="-4470427" y="11016658"/>
              <a:chExt cx="3470785" cy="974220"/>
            </a:xfrm>
          </p:grpSpPr>
          <p:grpSp>
            <p:nvGrpSpPr>
              <p:cNvPr id="64" name="Group 63"/>
              <p:cNvGrpSpPr/>
              <p:nvPr userDrawn="1"/>
            </p:nvGrpSpPr>
            <p:grpSpPr>
              <a:xfrm>
                <a:off x="-2783495" y="11060886"/>
                <a:ext cx="624431" cy="893535"/>
                <a:chOff x="-3958697" y="11117435"/>
                <a:chExt cx="779338" cy="1280430"/>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5" name="Group 64"/>
              <p:cNvGrpSpPr/>
              <p:nvPr userDrawn="1"/>
            </p:nvGrpSpPr>
            <p:grpSpPr>
              <a:xfrm>
                <a:off x="-2033159" y="11060889"/>
                <a:ext cx="1033517" cy="893529"/>
                <a:chOff x="-2921738" y="11200127"/>
                <a:chExt cx="1420279" cy="1227904"/>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59" name="Group 58"/>
            <p:cNvGrpSpPr/>
            <p:nvPr userDrawn="1"/>
          </p:nvGrpSpPr>
          <p:grpSpPr>
            <a:xfrm>
              <a:off x="-10398793" y="27751410"/>
              <a:ext cx="9323012" cy="2453251"/>
              <a:chOff x="-4754996" y="12734136"/>
              <a:chExt cx="4296559"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60" name="Object 59"/>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61" name="Object 60"/>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3" name="TextBox 62"/>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38"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4.jp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374895" y="6264690"/>
            <a:ext cx="10056813" cy="6001621"/>
          </a:xfrm>
        </p:spPr>
        <p:txBody>
          <a:bodyPr/>
          <a:lstStyle/>
          <a:p>
            <a:pPr algn="just"/>
            <a:r>
              <a:rPr lang="en-IE" dirty="0">
                <a:solidFill>
                  <a:schemeClr val="tx1"/>
                </a:solidFill>
              </a:rPr>
              <a:t>This project focused on developing a lightweight Network Intrusion Detection System (IDS) using machine learning techniques to classify benign and malicious network traffic. It followed the CRISP-DM framework and used the CIC-IDS2017 dataset as the main source of network flow data. Multiple preprocessing techniques were applied to prepare this dataset for three different machine learning models: Random Forest, Decision Tree and Logistic Regression. Then, the models were evaluated using accuracy, precision, recall, macro F1-score, and confusion matrix analysis.</a:t>
            </a:r>
          </a:p>
          <a:p>
            <a:pPr algn="just"/>
            <a:r>
              <a:rPr lang="en-IE" dirty="0">
                <a:solidFill>
                  <a:schemeClr val="tx1"/>
                </a:solidFill>
              </a:rPr>
              <a:t>The Decision Tree Full Dataset Balanced Tuned 2 model was selected as the final lightweight IDS solution because it achieved the best balance between strong classification performance, attack coverage, interpretability and runtime efficiency.</a:t>
            </a:r>
          </a:p>
          <a:p>
            <a:endParaRPr lang="en-US" dirty="0"/>
          </a:p>
        </p:txBody>
      </p:sp>
      <p:sp>
        <p:nvSpPr>
          <p:cNvPr id="3" name="Text Placeholder 2"/>
          <p:cNvSpPr>
            <a:spLocks noGrp="1"/>
          </p:cNvSpPr>
          <p:nvPr>
            <p:ph type="body" sz="quarter" idx="11"/>
          </p:nvPr>
        </p:nvSpPr>
        <p:spPr/>
        <p:txBody>
          <a:bodyPr/>
          <a:lstStyle/>
          <a:p>
            <a:r>
              <a:rPr lang="en-US" dirty="0">
                <a:solidFill>
                  <a:schemeClr val="tx2"/>
                </a:solidFill>
                <a:latin typeface="Arial" panose="020B0604020202020204" pitchFamily="34" charset="0"/>
                <a:cs typeface="Arial" panose="020B0604020202020204" pitchFamily="34" charset="0"/>
              </a:rPr>
              <a:t>ABSTRACT</a:t>
            </a:r>
          </a:p>
        </p:txBody>
      </p:sp>
      <p:sp>
        <p:nvSpPr>
          <p:cNvPr id="4" name="Text Placeholder 3"/>
          <p:cNvSpPr>
            <a:spLocks noGrp="1"/>
          </p:cNvSpPr>
          <p:nvPr>
            <p:ph type="body" sz="quarter" idx="20"/>
          </p:nvPr>
        </p:nvSpPr>
        <p:spPr>
          <a:xfrm>
            <a:off x="496930" y="16070149"/>
            <a:ext cx="10050462" cy="754045"/>
          </a:xfrm>
        </p:spPr>
        <p:txBody>
          <a:bodyPr/>
          <a:lstStyle/>
          <a:p>
            <a:r>
              <a:rPr lang="en-US" dirty="0">
                <a:solidFill>
                  <a:schemeClr val="tx2"/>
                </a:solidFill>
                <a:latin typeface="Arial" panose="020B0604020202020204" pitchFamily="34" charset="0"/>
                <a:cs typeface="Arial" panose="020B0604020202020204" pitchFamily="34" charset="0"/>
              </a:rPr>
              <a:t>CONCEPTUAL FRAMEWORK</a:t>
            </a:r>
          </a:p>
        </p:txBody>
      </p:sp>
      <p:sp>
        <p:nvSpPr>
          <p:cNvPr id="6" name="Text Placeholder 5"/>
          <p:cNvSpPr>
            <a:spLocks noGrp="1"/>
          </p:cNvSpPr>
          <p:nvPr>
            <p:ph type="body" sz="quarter" idx="22"/>
          </p:nvPr>
        </p:nvSpPr>
        <p:spPr>
          <a:xfrm>
            <a:off x="498517" y="27746547"/>
            <a:ext cx="10048875" cy="754045"/>
          </a:xfrm>
        </p:spPr>
        <p:txBody>
          <a:bodyPr/>
          <a:lstStyle/>
          <a:p>
            <a:r>
              <a:rPr lang="en-US" dirty="0">
                <a:solidFill>
                  <a:schemeClr val="tx2"/>
                </a:solidFill>
                <a:latin typeface="Arial" panose="020B0604020202020204" pitchFamily="34" charset="0"/>
                <a:cs typeface="Arial" panose="020B0604020202020204" pitchFamily="34" charset="0"/>
              </a:rPr>
              <a:t> BUSINESS UNDERSTANDING</a:t>
            </a:r>
          </a:p>
        </p:txBody>
      </p:sp>
      <p:sp>
        <p:nvSpPr>
          <p:cNvPr id="9" name="Text Placeholder 8"/>
          <p:cNvSpPr>
            <a:spLocks noGrp="1"/>
          </p:cNvSpPr>
          <p:nvPr>
            <p:ph type="body" sz="quarter" idx="25"/>
          </p:nvPr>
        </p:nvSpPr>
        <p:spPr>
          <a:xfrm>
            <a:off x="33346443" y="24270292"/>
            <a:ext cx="10047018" cy="677100"/>
          </a:xfrm>
        </p:spPr>
        <p:txBody>
          <a:bodyPr/>
          <a:lstStyle/>
          <a:p>
            <a:r>
              <a:rPr lang="en-US" sz="3200" dirty="0">
                <a:solidFill>
                  <a:schemeClr val="tx2"/>
                </a:solidFill>
                <a:latin typeface="Arial" panose="020B0604020202020204" pitchFamily="34" charset="0"/>
                <a:cs typeface="Arial" panose="020B0604020202020204" pitchFamily="34" charset="0"/>
              </a:rPr>
              <a:t>CONCLUSIONS</a:t>
            </a:r>
          </a:p>
        </p:txBody>
      </p:sp>
      <p:sp>
        <p:nvSpPr>
          <p:cNvPr id="11" name="Text Placeholder 10"/>
          <p:cNvSpPr>
            <a:spLocks noGrp="1"/>
          </p:cNvSpPr>
          <p:nvPr>
            <p:ph type="body" sz="quarter" idx="27"/>
          </p:nvPr>
        </p:nvSpPr>
        <p:spPr>
          <a:xfrm>
            <a:off x="33612021" y="29814608"/>
            <a:ext cx="9639169" cy="738656"/>
          </a:xfrm>
        </p:spPr>
        <p:txBody>
          <a:bodyPr/>
          <a:lstStyle/>
          <a:p>
            <a:r>
              <a:rPr lang="en-US" sz="3600" dirty="0">
                <a:solidFill>
                  <a:schemeClr val="tx2"/>
                </a:solidFill>
                <a:latin typeface="Arial" panose="020B0604020202020204" pitchFamily="34" charset="0"/>
                <a:cs typeface="Arial" panose="020B0604020202020204" pitchFamily="34" charset="0"/>
              </a:rPr>
              <a:t>REFERENCES</a:t>
            </a:r>
          </a:p>
        </p:txBody>
      </p:sp>
      <p:sp>
        <p:nvSpPr>
          <p:cNvPr id="16" name="Text Placeholder 15"/>
          <p:cNvSpPr>
            <a:spLocks noGrp="1"/>
          </p:cNvSpPr>
          <p:nvPr>
            <p:ph type="body" sz="quarter" idx="150"/>
          </p:nvPr>
        </p:nvSpPr>
        <p:spPr/>
        <p:txBody>
          <a:bodyPr>
            <a:normAutofit/>
          </a:bodyPr>
          <a:lstStyle/>
          <a:p>
            <a:r>
              <a:rPr lang="en-US" sz="4800" b="1" dirty="0">
                <a:latin typeface="Arial" panose="020B0604020202020204" pitchFamily="34" charset="0"/>
                <a:cs typeface="Arial" panose="020B0604020202020204" pitchFamily="34" charset="0"/>
              </a:rPr>
              <a:t>Sander Soares &amp; Thiago Gon</a:t>
            </a:r>
            <a:r>
              <a:rPr lang="en-IE" b="1" dirty="0"/>
              <a:t>çalves</a:t>
            </a:r>
            <a:r>
              <a:rPr lang="en-US" sz="4800" b="1" dirty="0">
                <a:latin typeface="Arial" panose="020B0604020202020204" pitchFamily="34" charset="0"/>
                <a:cs typeface="Arial" panose="020B0604020202020204" pitchFamily="34" charset="0"/>
              </a:rPr>
              <a:t>, CCT College Dublin, May 2026</a:t>
            </a:r>
          </a:p>
        </p:txBody>
      </p:sp>
      <p:sp>
        <p:nvSpPr>
          <p:cNvPr id="18" name="Text Placeholder 17"/>
          <p:cNvSpPr>
            <a:spLocks noGrp="1"/>
          </p:cNvSpPr>
          <p:nvPr>
            <p:ph type="body" sz="quarter" idx="153"/>
          </p:nvPr>
        </p:nvSpPr>
        <p:spPr>
          <a:xfrm>
            <a:off x="58530" y="876749"/>
            <a:ext cx="42901013" cy="2277387"/>
          </a:xfrm>
        </p:spPr>
        <p:txBody>
          <a:bodyPr>
            <a:normAutofit fontScale="70000" lnSpcReduction="20000"/>
          </a:bodyPr>
          <a:lstStyle/>
          <a:p>
            <a:r>
              <a:rPr lang="en-US" b="1" cap="small" dirty="0">
                <a:latin typeface="Arial" panose="020B0604020202020204" pitchFamily="34" charset="0"/>
                <a:cs typeface="Arial" panose="020B0604020202020204" pitchFamily="34" charset="0"/>
              </a:rPr>
              <a:t>LIGHTWEIGHT NETWORK INTRUSION DETECTION SYSTEM (IDS) USING MACHINE LEARNING FOR CYBERATTACK CLASSIFICATION</a:t>
            </a:r>
            <a:endParaRPr lang="en-US" dirty="0">
              <a:latin typeface="+mn-lt"/>
            </a:endParaRPr>
          </a:p>
        </p:txBody>
      </p:sp>
      <p:sp>
        <p:nvSpPr>
          <p:cNvPr id="32" name="Content Placeholder 2"/>
          <p:cNvSpPr txBox="1">
            <a:spLocks/>
          </p:cNvSpPr>
          <p:nvPr/>
        </p:nvSpPr>
        <p:spPr>
          <a:xfrm>
            <a:off x="670763" y="16995258"/>
            <a:ext cx="9726504" cy="4178457"/>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r>
              <a:rPr lang="en-US" sz="2500" dirty="0">
                <a:latin typeface="Times New Roman" panose="02020603050405020304" pitchFamily="18" charset="0"/>
                <a:cs typeface="Times New Roman" panose="02020603050405020304" pitchFamily="18" charset="0"/>
              </a:rPr>
              <a:t>This project used the Cross-Industry Standard Process for Data Mining (CRISP-DM) model as a method for creating an efficient and well-structured Lightweight Intrusion Detection System (LIDS). Using the CRISP-DM model allowed the project to follow a systematic approach throughout all six phases of the Data Mining process: Business Understanding, Data Understanding, Data Preparation, Modelling, Evaluation and Deployment. The CRISP-DM model also assisted in maintaining a logical sequence during dataset preprocessing, machine learning experimentation, model evaluation and deployment planning stages (Schröer, et al., 2020)</a:t>
            </a:r>
            <a:endParaRPr lang="en-IE" sz="2500" dirty="0">
              <a:latin typeface="Times New Roman" panose="02020603050405020304" pitchFamily="18" charset="0"/>
              <a:cs typeface="Times New Roman" panose="02020603050405020304" pitchFamily="18" charset="0"/>
            </a:endParaRPr>
          </a:p>
        </p:txBody>
      </p:sp>
      <p:sp>
        <p:nvSpPr>
          <p:cNvPr id="25" name="Rectangle 24"/>
          <p:cNvSpPr/>
          <p:nvPr/>
        </p:nvSpPr>
        <p:spPr>
          <a:xfrm>
            <a:off x="1543050" y="32318325"/>
            <a:ext cx="2828925" cy="43815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dirty="0"/>
          </a:p>
        </p:txBody>
      </p:sp>
      <p:sp>
        <p:nvSpPr>
          <p:cNvPr id="40" name="Text Placeholder 3"/>
          <p:cNvSpPr>
            <a:spLocks noGrp="1"/>
          </p:cNvSpPr>
          <p:nvPr>
            <p:ph type="body" sz="quarter" idx="20"/>
          </p:nvPr>
        </p:nvSpPr>
        <p:spPr>
          <a:xfrm>
            <a:off x="550697" y="11725870"/>
            <a:ext cx="10026754" cy="754045"/>
          </a:xfrm>
        </p:spPr>
        <p:txBody>
          <a:bodyPr/>
          <a:lstStyle/>
          <a:p>
            <a:r>
              <a:rPr lang="en-US" dirty="0">
                <a:solidFill>
                  <a:schemeClr val="tx2"/>
                </a:solidFill>
                <a:latin typeface="Arial" panose="020B0604020202020204" pitchFamily="34" charset="0"/>
                <a:cs typeface="Arial" panose="020B0604020202020204" pitchFamily="34" charset="0"/>
              </a:rPr>
              <a:t>RESEARCH QUESTIONS</a:t>
            </a:r>
          </a:p>
        </p:txBody>
      </p:sp>
      <p:sp>
        <p:nvSpPr>
          <p:cNvPr id="41" name="Content Placeholder 2"/>
          <p:cNvSpPr txBox="1">
            <a:spLocks/>
          </p:cNvSpPr>
          <p:nvPr/>
        </p:nvSpPr>
        <p:spPr>
          <a:xfrm>
            <a:off x="534829" y="12492917"/>
            <a:ext cx="9736942" cy="3792957"/>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r>
              <a:rPr lang="en-US" sz="2500" dirty="0">
                <a:latin typeface="Times New Roman" panose="02020603050405020304" pitchFamily="18" charset="0"/>
                <a:cs typeface="Times New Roman" pitchFamily="18" charset="0"/>
              </a:rPr>
              <a:t>The following four questions represent the main focus of this research study:</a:t>
            </a:r>
            <a:endParaRPr lang="en-IE" sz="2500" dirty="0">
              <a:latin typeface="Times New Roman" panose="02020603050405020304" pitchFamily="18" charset="0"/>
              <a:cs typeface="Times New Roman" pitchFamily="18" charset="0"/>
            </a:endParaRP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Q.1.</a:t>
            </a:r>
            <a:r>
              <a:rPr lang="en-IE" sz="2500" dirty="0">
                <a:latin typeface="Times New Roman" panose="02020603050405020304" pitchFamily="18" charset="0"/>
                <a:cs typeface="Times New Roman" panose="02020603050405020304" pitchFamily="18" charset="0"/>
              </a:rPr>
              <a:t> 	Which Machine Learning model perform best for multiclass intrusion detection?</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Q.2</a:t>
            </a:r>
            <a:r>
              <a:rPr lang="en-IE" sz="2500" dirty="0">
                <a:latin typeface="Times New Roman" panose="02020603050405020304" pitchFamily="18" charset="0"/>
                <a:cs typeface="Times New Roman" panose="02020603050405020304" pitchFamily="18" charset="0"/>
              </a:rPr>
              <a:t>. 	How does class imbalance affect attack classification performance?</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Q.3 	</a:t>
            </a:r>
            <a:r>
              <a:rPr lang="en-IE" sz="2500" dirty="0">
                <a:latin typeface="Times New Roman" panose="02020603050405020304" pitchFamily="18" charset="0"/>
                <a:cs typeface="Times New Roman" panose="02020603050405020304" pitchFamily="18" charset="0"/>
              </a:rPr>
              <a:t>Can a lightweight and interpretable model achieve strong IDS performance?</a:t>
            </a:r>
          </a:p>
          <a:p>
            <a:pPr marL="0" indent="0" algn="just" defTabSz="895350">
              <a:buFont typeface="Arial" pitchFamily="34" charset="0"/>
              <a:buNone/>
            </a:pPr>
            <a:r>
              <a:rPr lang="en-IE" sz="2500" b="1" dirty="0">
                <a:latin typeface="Times New Roman" panose="02020603050405020304" pitchFamily="18" charset="0"/>
                <a:cs typeface="Times New Roman" panose="02020603050405020304" pitchFamily="18" charset="0"/>
              </a:rPr>
              <a:t>Q.4</a:t>
            </a:r>
            <a:r>
              <a:rPr lang="en-IE" sz="2500" dirty="0">
                <a:latin typeface="Times New Roman" panose="02020603050405020304" pitchFamily="18" charset="0"/>
                <a:cs typeface="Times New Roman" panose="02020603050405020304" pitchFamily="18" charset="0"/>
              </a:rPr>
              <a:t>	What limitations remain in the selected model?</a:t>
            </a:r>
          </a:p>
        </p:txBody>
      </p:sp>
      <p:sp>
        <p:nvSpPr>
          <p:cNvPr id="39" name="Content Placeholder 2">
            <a:extLst>
              <a:ext uri="{FF2B5EF4-FFF2-40B4-BE49-F238E27FC236}">
                <a16:creationId xmlns:a16="http://schemas.microsoft.com/office/drawing/2014/main" id="{2EFFBC5F-0C09-40DB-9DFE-B704854ECCA6}"/>
              </a:ext>
            </a:extLst>
          </p:cNvPr>
          <p:cNvSpPr txBox="1">
            <a:spLocks/>
          </p:cNvSpPr>
          <p:nvPr/>
        </p:nvSpPr>
        <p:spPr>
          <a:xfrm>
            <a:off x="11693941" y="8028377"/>
            <a:ext cx="9662432" cy="979718"/>
          </a:xfrm>
          <a:prstGeom prst="rect">
            <a:avLst/>
          </a:prstGeom>
        </p:spPr>
        <p:txBody>
          <a:bodyPr>
            <a:normAutofit fontScale="70000" lnSpcReduction="20000"/>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endParaRPr lang="en-IE" sz="9600" dirty="0">
              <a:latin typeface="Arial" panose="020B0604020202020204" pitchFamily="34" charset="0"/>
              <a:cs typeface="Arial" panose="020B0604020202020204" pitchFamily="34" charset="0"/>
            </a:endParaRPr>
          </a:p>
        </p:txBody>
      </p:sp>
      <p:sp>
        <p:nvSpPr>
          <p:cNvPr id="47" name="Content Placeholder 2">
            <a:extLst>
              <a:ext uri="{FF2B5EF4-FFF2-40B4-BE49-F238E27FC236}">
                <a16:creationId xmlns:a16="http://schemas.microsoft.com/office/drawing/2014/main" id="{C12A8FE5-E10F-498E-9E7D-EC629905A877}"/>
              </a:ext>
            </a:extLst>
          </p:cNvPr>
          <p:cNvSpPr txBox="1">
            <a:spLocks/>
          </p:cNvSpPr>
          <p:nvPr/>
        </p:nvSpPr>
        <p:spPr>
          <a:xfrm>
            <a:off x="33591362" y="30475055"/>
            <a:ext cx="9680488" cy="2012212"/>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None/>
            </a:pPr>
            <a:r>
              <a:rPr lang="en-IE" sz="900" dirty="0">
                <a:latin typeface="Times New Roman" panose="02020603050405020304" pitchFamily="18" charset="0"/>
                <a:cs typeface="Times New Roman" panose="02020603050405020304" pitchFamily="18" charset="0"/>
              </a:rPr>
              <a:t>McQuaid, D. (2026d) </a:t>
            </a:r>
            <a:r>
              <a:rPr lang="en-IE" sz="900" i="1" dirty="0">
                <a:latin typeface="Times New Roman" panose="02020603050405020304" pitchFamily="18" charset="0"/>
                <a:cs typeface="Times New Roman" panose="02020603050405020304" pitchFamily="18" charset="0"/>
              </a:rPr>
              <a:t>How To Save Trained Machine Learning Models</a:t>
            </a:r>
            <a:r>
              <a:rPr lang="en-IE" sz="900" dirty="0">
                <a:latin typeface="Times New Roman" panose="02020603050405020304" pitchFamily="18" charset="0"/>
                <a:cs typeface="Times New Roman" panose="02020603050405020304" pitchFamily="18" charset="0"/>
              </a:rPr>
              <a:t>. Machine Learning for AI lecture notes. CCT College Dublin. </a:t>
            </a:r>
          </a:p>
          <a:p>
            <a:pPr marL="0" indent="0" algn="just" defTabSz="895350">
              <a:buNone/>
            </a:pPr>
            <a:r>
              <a:rPr lang="en-IE" sz="900" dirty="0">
                <a:latin typeface="Times New Roman" panose="02020603050405020304" pitchFamily="18" charset="0"/>
                <a:cs typeface="Times New Roman" panose="02020603050405020304" pitchFamily="18" charset="0"/>
              </a:rPr>
              <a:t>Müller, A.C. and Guido, S. (2017) </a:t>
            </a:r>
            <a:r>
              <a:rPr lang="en-IE" sz="900" i="1" dirty="0">
                <a:latin typeface="Times New Roman" panose="02020603050405020304" pitchFamily="18" charset="0"/>
                <a:cs typeface="Times New Roman" panose="02020603050405020304" pitchFamily="18" charset="0"/>
              </a:rPr>
              <a:t>Introduction to Machine Learning with Python: A Guide for Data Scientists</a:t>
            </a:r>
            <a:r>
              <a:rPr lang="en-IE" sz="900" dirty="0">
                <a:latin typeface="Times New Roman" panose="02020603050405020304" pitchFamily="18" charset="0"/>
                <a:cs typeface="Times New Roman" panose="02020603050405020304" pitchFamily="18" charset="0"/>
              </a:rPr>
              <a:t>. 1st end. Sebastopol, CA: O’Reilly Media.</a:t>
            </a:r>
          </a:p>
          <a:p>
            <a:pPr marL="0" indent="0" algn="just" defTabSz="895350">
              <a:buNone/>
            </a:pPr>
            <a:r>
              <a:rPr lang="en-IE" sz="900" dirty="0">
                <a:latin typeface="Times New Roman" panose="02020603050405020304" pitchFamily="18" charset="0"/>
                <a:cs typeface="Times New Roman" panose="02020603050405020304" pitchFamily="18" charset="0"/>
              </a:rPr>
              <a:t>Nugroho, W.H., Handovo, S. and Akri, Y.J. (2018) </a:t>
            </a:r>
            <a:r>
              <a:rPr lang="en-IE" sz="900" i="1" dirty="0">
                <a:latin typeface="Times New Roman" panose="02020603050405020304" pitchFamily="18" charset="0"/>
                <a:cs typeface="Times New Roman" panose="02020603050405020304" pitchFamily="18" charset="0"/>
              </a:rPr>
              <a:t>An Influence of Measurement Scale of Predictor Variable on Logistic Regression Modeling and Learning Vector Quantization Modeling for Object Classification</a:t>
            </a:r>
            <a:r>
              <a:rPr lang="en-IE" sz="900" dirty="0">
                <a:latin typeface="Times New Roman" panose="02020603050405020304" pitchFamily="18" charset="0"/>
                <a:cs typeface="Times New Roman" panose="02020603050405020304" pitchFamily="18" charset="0"/>
              </a:rPr>
              <a:t>. Available at: ResearchGate (Accessed: 11 May 2026). </a:t>
            </a:r>
          </a:p>
          <a:p>
            <a:pPr marL="0" indent="0" algn="just" defTabSz="895350">
              <a:buNone/>
            </a:pPr>
            <a:r>
              <a:rPr lang="en-IE" sz="900" dirty="0">
                <a:latin typeface="Times New Roman" panose="02020603050405020304" pitchFamily="18" charset="0"/>
                <a:cs typeface="Times New Roman" panose="02020603050405020304" pitchFamily="18" charset="0"/>
              </a:rPr>
              <a:t>O'Donovan, B. (2025) </a:t>
            </a:r>
            <a:r>
              <a:rPr lang="en-IE" sz="900" i="1" dirty="0">
                <a:latin typeface="Times New Roman" panose="02020603050405020304" pitchFamily="18" charset="0"/>
                <a:cs typeface="Times New Roman" panose="02020603050405020304" pitchFamily="18" charset="0"/>
              </a:rPr>
              <a:t>Ireland at increased risk of cyber attacks - report</a:t>
            </a:r>
            <a:r>
              <a:rPr lang="en-IE" sz="900" dirty="0">
                <a:latin typeface="Times New Roman" panose="02020603050405020304" pitchFamily="18" charset="0"/>
                <a:cs typeface="Times New Roman" panose="02020603050405020304" pitchFamily="18" charset="0"/>
              </a:rPr>
              <a:t>. Available at: RTÉ News (Accessed: 7 March 2026).</a:t>
            </a:r>
          </a:p>
          <a:p>
            <a:pPr marL="0" indent="0" algn="just" defTabSz="895350">
              <a:buNone/>
            </a:pPr>
            <a:r>
              <a:rPr lang="en-IE" sz="900" dirty="0">
                <a:latin typeface="Times New Roman" panose="02020603050405020304" pitchFamily="18" charset="0"/>
                <a:cs typeface="Times New Roman" panose="02020603050405020304" pitchFamily="18" charset="0"/>
              </a:rPr>
              <a:t>Schröer, C., Kruse, F. and Gómez, J.M. (2020) </a:t>
            </a:r>
            <a:r>
              <a:rPr lang="en-IE" sz="900" i="1" dirty="0">
                <a:latin typeface="Times New Roman" panose="02020603050405020304" pitchFamily="18" charset="0"/>
                <a:cs typeface="Times New Roman" panose="02020603050405020304" pitchFamily="18" charset="0"/>
              </a:rPr>
              <a:t>A Systematic Literature Review on Applying CRISP-DM Process Model</a:t>
            </a:r>
            <a:r>
              <a:rPr lang="en-IE" sz="900" dirty="0">
                <a:latin typeface="Times New Roman" panose="02020603050405020304" pitchFamily="18" charset="0"/>
                <a:cs typeface="Times New Roman" panose="02020603050405020304" pitchFamily="18" charset="0"/>
              </a:rPr>
              <a:t>. Available at: ScienceDirect (Accessed: 9 May 2026). Sharafaldin, I., Lashkari, A.H. and Ghorbani, A.A. (2018) </a:t>
            </a:r>
            <a:r>
              <a:rPr lang="en-IE" sz="900" i="1" dirty="0">
                <a:latin typeface="Times New Roman" panose="02020603050405020304" pitchFamily="18" charset="0"/>
                <a:cs typeface="Times New Roman" panose="02020603050405020304" pitchFamily="18" charset="0"/>
              </a:rPr>
              <a:t>Intrusion detection evaluation dataset (CIC-IDS2017)</a:t>
            </a:r>
            <a:r>
              <a:rPr lang="en-IE" sz="900" dirty="0">
                <a:latin typeface="Times New Roman" panose="02020603050405020304" pitchFamily="18" charset="0"/>
                <a:cs typeface="Times New Roman" panose="02020603050405020304" pitchFamily="18" charset="0"/>
              </a:rPr>
              <a:t>. Available at: UNB CIC Dataset.</a:t>
            </a:r>
          </a:p>
          <a:p>
            <a:pPr marL="0" indent="0" algn="just" defTabSz="895350">
              <a:buNone/>
            </a:pPr>
            <a:r>
              <a:rPr lang="en-IE" sz="900" dirty="0">
                <a:latin typeface="Times New Roman" panose="02020603050405020304" pitchFamily="18" charset="0"/>
                <a:cs typeface="Times New Roman" panose="02020603050405020304" pitchFamily="18" charset="0"/>
              </a:rPr>
              <a:t>Streamlit (2024) </a:t>
            </a:r>
            <a:r>
              <a:rPr lang="en-IE" sz="900" i="1" dirty="0">
                <a:latin typeface="Times New Roman" panose="02020603050405020304" pitchFamily="18" charset="0"/>
                <a:cs typeface="Times New Roman" panose="02020603050405020304" pitchFamily="18" charset="0"/>
              </a:rPr>
              <a:t>Streamlit Docs</a:t>
            </a:r>
            <a:r>
              <a:rPr lang="en-IE" sz="900" dirty="0">
                <a:latin typeface="Times New Roman" panose="02020603050405020304" pitchFamily="18" charset="0"/>
                <a:cs typeface="Times New Roman" panose="02020603050405020304" pitchFamily="18" charset="0"/>
              </a:rPr>
              <a:t>. Available at: Streamlit Documentation. </a:t>
            </a:r>
          </a:p>
          <a:p>
            <a:pPr marL="0" indent="0" algn="just" defTabSz="895350">
              <a:buNone/>
            </a:pPr>
            <a:r>
              <a:rPr lang="en-IE" sz="900" dirty="0">
                <a:latin typeface="Times New Roman" panose="02020603050405020304" pitchFamily="18" charset="0"/>
                <a:cs typeface="Times New Roman" panose="02020603050405020304" pitchFamily="18" charset="0"/>
              </a:rPr>
              <a:t>Zamani, S.Z. (2022) ‘Small and Medium Enterprises (SMEs) facing an evolving technological era: a systematic literature review on the adoption of technologies in SMEs’, </a:t>
            </a:r>
            <a:r>
              <a:rPr lang="en-IE" sz="900" i="1" dirty="0">
                <a:latin typeface="Times New Roman" panose="02020603050405020304" pitchFamily="18" charset="0"/>
                <a:cs typeface="Times New Roman" panose="02020603050405020304" pitchFamily="18" charset="0"/>
              </a:rPr>
              <a:t>European Journal of Innovation Management</a:t>
            </a:r>
            <a:r>
              <a:rPr lang="en-IE" sz="900" dirty="0">
                <a:latin typeface="Times New Roman" panose="02020603050405020304" pitchFamily="18" charset="0"/>
                <a:cs typeface="Times New Roman" panose="02020603050405020304" pitchFamily="18" charset="0"/>
              </a:rPr>
              <a:t>, 25(6). doi: DOI.</a:t>
            </a: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a:p>
            <a:pPr marL="0" indent="0" algn="just" defTabSz="895350">
              <a:buNone/>
            </a:pPr>
            <a:endParaRPr lang="en-IE" sz="9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86F2D775-B43E-2D1B-5ECE-DD93EC61B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28989" y="21120313"/>
            <a:ext cx="6339073" cy="6339073"/>
          </a:xfrm>
          <a:prstGeom prst="rect">
            <a:avLst/>
          </a:prstGeom>
        </p:spPr>
      </p:pic>
      <p:sp>
        <p:nvSpPr>
          <p:cNvPr id="21" name="Text Placeholder 5">
            <a:extLst>
              <a:ext uri="{FF2B5EF4-FFF2-40B4-BE49-F238E27FC236}">
                <a16:creationId xmlns:a16="http://schemas.microsoft.com/office/drawing/2014/main" id="{348892E9-080F-B06A-105A-7860166FB512}"/>
              </a:ext>
            </a:extLst>
          </p:cNvPr>
          <p:cNvSpPr txBox="1">
            <a:spLocks/>
          </p:cNvSpPr>
          <p:nvPr/>
        </p:nvSpPr>
        <p:spPr>
          <a:xfrm>
            <a:off x="22225422" y="581530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MODELLING</a:t>
            </a:r>
          </a:p>
        </p:txBody>
      </p:sp>
      <p:sp>
        <p:nvSpPr>
          <p:cNvPr id="50" name="Text Placeholder 4">
            <a:extLst>
              <a:ext uri="{FF2B5EF4-FFF2-40B4-BE49-F238E27FC236}">
                <a16:creationId xmlns:a16="http://schemas.microsoft.com/office/drawing/2014/main" id="{4D0FFE05-CCA1-CB00-4EC8-B1F783EEA1FC}"/>
              </a:ext>
            </a:extLst>
          </p:cNvPr>
          <p:cNvSpPr txBox="1">
            <a:spLocks/>
          </p:cNvSpPr>
          <p:nvPr/>
        </p:nvSpPr>
        <p:spPr>
          <a:xfrm>
            <a:off x="11427502" y="6240358"/>
            <a:ext cx="10048874" cy="5924677"/>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The Data Understanding phase focused on analyzing the CICIDS2017 dataset before preprocessing and modelling. The dataset was developed and publicly released by the Canadian Institute for Cybersecurity (CIC) at the University of New Brunswick, Canada, and contains benign and the most up-to-date common attacks, which resembles the true real-world data (PCAPs). It also includes the results of network traffic using CICFlowMeter with labeled flows based on the time stamp, source, and destination IPs, source and destination ports, protocols and attack </a:t>
            </a:r>
            <a:r>
              <a:rPr lang="en-IE" dirty="0">
                <a:solidFill>
                  <a:schemeClr val="tx1"/>
                </a:solidFill>
              </a:rPr>
              <a:t>(Sharafaldin et al., 2018).</a:t>
            </a:r>
            <a:endParaRPr lang="en-US" dirty="0">
              <a:solidFill>
                <a:schemeClr val="tx1"/>
              </a:solidFill>
            </a:endParaRPr>
          </a:p>
          <a:p>
            <a:pPr algn="just"/>
            <a:r>
              <a:rPr lang="en-US" dirty="0">
                <a:solidFill>
                  <a:schemeClr val="tx1"/>
                </a:solidFill>
              </a:rPr>
              <a:t>The dataset was presented in 8 different CSV files, with different traffic’s period and attacks scenario. The dataset after merging had 2,830,743 rows and 79 columns. A total of 1,358 missing values were removed, and we observed that the dataset was very unbalanced, having 80.3% of benign traffic.</a:t>
            </a:r>
          </a:p>
        </p:txBody>
      </p:sp>
      <p:pic>
        <p:nvPicPr>
          <p:cNvPr id="56" name="Picture 55">
            <a:extLst>
              <a:ext uri="{FF2B5EF4-FFF2-40B4-BE49-F238E27FC236}">
                <a16:creationId xmlns:a16="http://schemas.microsoft.com/office/drawing/2014/main" id="{F061BFD2-4BA2-5E5B-C1D2-F9044DF3C43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60599" y="11948369"/>
            <a:ext cx="9782680" cy="5559941"/>
          </a:xfrm>
          <a:prstGeom prst="rect">
            <a:avLst/>
          </a:prstGeom>
        </p:spPr>
      </p:pic>
      <p:sp>
        <p:nvSpPr>
          <p:cNvPr id="63" name="Text Placeholder 5">
            <a:extLst>
              <a:ext uri="{FF2B5EF4-FFF2-40B4-BE49-F238E27FC236}">
                <a16:creationId xmlns:a16="http://schemas.microsoft.com/office/drawing/2014/main" id="{40E268E3-721A-232C-8012-F93EDC4562D5}"/>
              </a:ext>
            </a:extLst>
          </p:cNvPr>
          <p:cNvSpPr txBox="1">
            <a:spLocks/>
          </p:cNvSpPr>
          <p:nvPr/>
        </p:nvSpPr>
        <p:spPr>
          <a:xfrm>
            <a:off x="11307498" y="567957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 DATA UNDERSTANDING</a:t>
            </a:r>
          </a:p>
        </p:txBody>
      </p:sp>
      <p:sp>
        <p:nvSpPr>
          <p:cNvPr id="4096" name="Text Placeholder 4">
            <a:extLst>
              <a:ext uri="{FF2B5EF4-FFF2-40B4-BE49-F238E27FC236}">
                <a16:creationId xmlns:a16="http://schemas.microsoft.com/office/drawing/2014/main" id="{03EAC74A-226B-6D49-669C-28C272905BB7}"/>
              </a:ext>
            </a:extLst>
          </p:cNvPr>
          <p:cNvSpPr txBox="1">
            <a:spLocks/>
          </p:cNvSpPr>
          <p:nvPr/>
        </p:nvSpPr>
        <p:spPr>
          <a:xfrm>
            <a:off x="539637" y="28368017"/>
            <a:ext cx="10048874" cy="3924129"/>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Modern organizations increasingly depend on networks, cloud systems, remote access, and online services to support their operations, which also increases their exposure to cyber threats capable of causing downtime, data exposure, financial loss, and reputational damage (O'Donovan, 2025). While larger organizations often have dedicated cybersecurity teams, advanced monitoring systems, and stronger financial resources, many SMEs and smaller organizations operate with limited IT infrastructure and without specialized cybersecurity personnel, making them more vulnerable to network attacks and delayed threat detection (Zamani, 2022).</a:t>
            </a:r>
          </a:p>
        </p:txBody>
      </p:sp>
      <p:sp>
        <p:nvSpPr>
          <p:cNvPr id="4108" name="Text Placeholder 5">
            <a:extLst>
              <a:ext uri="{FF2B5EF4-FFF2-40B4-BE49-F238E27FC236}">
                <a16:creationId xmlns:a16="http://schemas.microsoft.com/office/drawing/2014/main" id="{D016A331-906B-1081-14A0-79F2EA8644B6}"/>
              </a:ext>
            </a:extLst>
          </p:cNvPr>
          <p:cNvSpPr txBox="1">
            <a:spLocks/>
          </p:cNvSpPr>
          <p:nvPr/>
        </p:nvSpPr>
        <p:spPr>
          <a:xfrm>
            <a:off x="11294404" y="17669901"/>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 DATA PREPARATION</a:t>
            </a:r>
          </a:p>
        </p:txBody>
      </p:sp>
      <p:sp>
        <p:nvSpPr>
          <p:cNvPr id="4109" name="Text Placeholder 4">
            <a:extLst>
              <a:ext uri="{FF2B5EF4-FFF2-40B4-BE49-F238E27FC236}">
                <a16:creationId xmlns:a16="http://schemas.microsoft.com/office/drawing/2014/main" id="{AE35C184-D179-575B-3E66-83C93DF91809}"/>
              </a:ext>
            </a:extLst>
          </p:cNvPr>
          <p:cNvSpPr txBox="1">
            <a:spLocks/>
          </p:cNvSpPr>
          <p:nvPr/>
        </p:nvSpPr>
        <p:spPr>
          <a:xfrm>
            <a:off x="11500720" y="18285473"/>
            <a:ext cx="10048874" cy="5078291"/>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The Data Preparation Phase focused on transforming the CICIDS2017 dataset, the source data upon which the automated intelligent security technology will operate, from the cleaned format into a structured format that is suitable for the purposes of machine learning modelling. During this phase, multiple pre-processing techniques were applied including; defining a target, separating the features from the target, label encoding of the target variables, correlation-based feature selection (CFS), splitting the dataset into train/test datasets, scaling features and preparing the dataset to control for the multiple class types. These stages were valuable to the preparation of a reduced dataset, enhance data quality and create models that are compatible with the requirements of the proposed IDS solution while maintaining the lightweight objective.</a:t>
            </a:r>
          </a:p>
        </p:txBody>
      </p:sp>
      <p:pic>
        <p:nvPicPr>
          <p:cNvPr id="4111" name="Picture 4110">
            <a:extLst>
              <a:ext uri="{FF2B5EF4-FFF2-40B4-BE49-F238E27FC236}">
                <a16:creationId xmlns:a16="http://schemas.microsoft.com/office/drawing/2014/main" id="{CFF2CB3B-095D-01C2-0072-F9F3186914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491690" y="23322901"/>
            <a:ext cx="9897972" cy="7385699"/>
          </a:xfrm>
          <a:prstGeom prst="rect">
            <a:avLst/>
          </a:prstGeom>
        </p:spPr>
      </p:pic>
      <p:sp>
        <p:nvSpPr>
          <p:cNvPr id="4116" name="Text Placeholder 5">
            <a:extLst>
              <a:ext uri="{FF2B5EF4-FFF2-40B4-BE49-F238E27FC236}">
                <a16:creationId xmlns:a16="http://schemas.microsoft.com/office/drawing/2014/main" id="{C31B5985-E191-5737-D2C8-DBB16C148A9F}"/>
              </a:ext>
            </a:extLst>
          </p:cNvPr>
          <p:cNvSpPr txBox="1">
            <a:spLocks/>
          </p:cNvSpPr>
          <p:nvPr/>
        </p:nvSpPr>
        <p:spPr>
          <a:xfrm>
            <a:off x="22351409" y="13862023"/>
            <a:ext cx="10048875" cy="754045"/>
          </a:xfrm>
          <a:prstGeom prst="rect">
            <a:avLst/>
          </a:prstGeom>
          <a:noFill/>
        </p:spPr>
        <p:txBody>
          <a:bodyPr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dirty="0">
                <a:solidFill>
                  <a:schemeClr val="tx2"/>
                </a:solidFill>
                <a:latin typeface="Arial" panose="020B0604020202020204" pitchFamily="34" charset="0"/>
                <a:cs typeface="Arial" panose="020B0604020202020204" pitchFamily="34" charset="0"/>
              </a:rPr>
              <a:t>EVALUATION</a:t>
            </a:r>
          </a:p>
        </p:txBody>
      </p:sp>
      <p:sp>
        <p:nvSpPr>
          <p:cNvPr id="4117" name="Text Placeholder 8">
            <a:extLst>
              <a:ext uri="{FF2B5EF4-FFF2-40B4-BE49-F238E27FC236}">
                <a16:creationId xmlns:a16="http://schemas.microsoft.com/office/drawing/2014/main" id="{BDC9C4BD-36DF-2030-36EF-646D925E6A7E}"/>
              </a:ext>
            </a:extLst>
          </p:cNvPr>
          <p:cNvSpPr txBox="1">
            <a:spLocks/>
          </p:cNvSpPr>
          <p:nvPr/>
        </p:nvSpPr>
        <p:spPr>
          <a:xfrm>
            <a:off x="33358099" y="5807125"/>
            <a:ext cx="10047018" cy="677100"/>
          </a:xfrm>
          <a:prstGeom prst="rect">
            <a:avLst/>
          </a:prstGeom>
          <a:noFill/>
        </p:spPr>
        <p:txBody>
          <a:bodyPr wrap="square" lIns="91436" tIns="91436" rIns="91436" bIns="91436" anchor="ctr" anchorCtr="0">
            <a:spAutoFit/>
          </a:bodyPr>
          <a:lstStyle>
            <a:lvl1pPr marL="0" indent="0" algn="ctr" defTabSz="4388900" rtl="0" eaLnBrk="1" latinLnBrk="0" hangingPunct="1">
              <a:spcBef>
                <a:spcPct val="20000"/>
              </a:spcBef>
              <a:buFont typeface="Arial" pitchFamily="34" charset="0"/>
              <a:buNone/>
              <a:defRPr sz="3700" b="1" u="sng" kern="1200" baseline="0">
                <a:solidFill>
                  <a:schemeClr val="accent5">
                    <a:lumMod val="50000"/>
                  </a:schemeClr>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US" sz="3200" dirty="0">
                <a:solidFill>
                  <a:schemeClr val="tx2"/>
                </a:solidFill>
                <a:latin typeface="Arial" panose="020B0604020202020204" pitchFamily="34" charset="0"/>
                <a:cs typeface="Arial" panose="020B0604020202020204" pitchFamily="34" charset="0"/>
              </a:rPr>
              <a:t>DEPLOYMENT</a:t>
            </a:r>
          </a:p>
        </p:txBody>
      </p:sp>
      <p:pic>
        <p:nvPicPr>
          <p:cNvPr id="4119" name="Picture 4118">
            <a:extLst>
              <a:ext uri="{FF2B5EF4-FFF2-40B4-BE49-F238E27FC236}">
                <a16:creationId xmlns:a16="http://schemas.microsoft.com/office/drawing/2014/main" id="{FD2A59F4-C1E0-C700-274B-9209CEFCD81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4829" y="2232751"/>
            <a:ext cx="6406905" cy="2213942"/>
          </a:xfrm>
          <a:prstGeom prst="rect">
            <a:avLst/>
          </a:prstGeom>
        </p:spPr>
      </p:pic>
      <p:sp>
        <p:nvSpPr>
          <p:cNvPr id="5" name="Text Placeholder 4">
            <a:extLst>
              <a:ext uri="{FF2B5EF4-FFF2-40B4-BE49-F238E27FC236}">
                <a16:creationId xmlns:a16="http://schemas.microsoft.com/office/drawing/2014/main" id="{DC026B65-4586-C30B-A59A-7943EB102EF1}"/>
              </a:ext>
            </a:extLst>
          </p:cNvPr>
          <p:cNvSpPr txBox="1">
            <a:spLocks/>
          </p:cNvSpPr>
          <p:nvPr/>
        </p:nvSpPr>
        <p:spPr>
          <a:xfrm>
            <a:off x="22451604" y="6383075"/>
            <a:ext cx="10048874" cy="7478948"/>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Three machine learning models were tested to classify network traffic: </a:t>
            </a:r>
            <a:r>
              <a:rPr lang="en-US" b="1" dirty="0">
                <a:solidFill>
                  <a:schemeClr val="tx1"/>
                </a:solidFill>
              </a:rPr>
              <a:t>Logistic Regression</a:t>
            </a:r>
            <a:r>
              <a:rPr lang="en-US" dirty="0">
                <a:solidFill>
                  <a:schemeClr val="tx1"/>
                </a:solidFill>
              </a:rPr>
              <a:t>, </a:t>
            </a:r>
            <a:r>
              <a:rPr lang="en-US" b="1" dirty="0">
                <a:solidFill>
                  <a:schemeClr val="tx1"/>
                </a:solidFill>
              </a:rPr>
              <a:t>Random Forest </a:t>
            </a:r>
            <a:r>
              <a:rPr lang="en-US" dirty="0">
                <a:solidFill>
                  <a:schemeClr val="tx1"/>
                </a:solidFill>
              </a:rPr>
              <a:t>and </a:t>
            </a:r>
            <a:r>
              <a:rPr lang="en-US" b="1" dirty="0">
                <a:solidFill>
                  <a:schemeClr val="tx1"/>
                </a:solidFill>
              </a:rPr>
              <a:t>Decision Tree</a:t>
            </a:r>
            <a:r>
              <a:rPr lang="en-US" dirty="0">
                <a:solidFill>
                  <a:schemeClr val="tx1"/>
                </a:solidFill>
              </a:rPr>
              <a:t>.</a:t>
            </a:r>
          </a:p>
          <a:p>
            <a:pPr algn="just"/>
            <a:r>
              <a:rPr lang="en-US" dirty="0">
                <a:solidFill>
                  <a:schemeClr val="tx1"/>
                </a:solidFill>
              </a:rPr>
              <a:t>The models were tested using three dataset strategies: </a:t>
            </a:r>
          </a:p>
          <a:p>
            <a:pPr algn="just"/>
            <a:r>
              <a:rPr lang="en-US" b="1" dirty="0">
                <a:solidFill>
                  <a:schemeClr val="tx1"/>
                </a:solidFill>
              </a:rPr>
              <a:t>Full Dataset: </a:t>
            </a:r>
            <a:r>
              <a:rPr lang="en-US" dirty="0">
                <a:solidFill>
                  <a:schemeClr val="tx1"/>
                </a:solidFill>
              </a:rPr>
              <a:t>Kept all 15 traffic classes.</a:t>
            </a:r>
          </a:p>
          <a:p>
            <a:pPr algn="just"/>
            <a:r>
              <a:rPr lang="en-US" b="1" dirty="0">
                <a:solidFill>
                  <a:schemeClr val="tx1"/>
                </a:solidFill>
              </a:rPr>
              <a:t>Capped Dataset: </a:t>
            </a:r>
            <a:r>
              <a:rPr lang="en-US" dirty="0">
                <a:solidFill>
                  <a:schemeClr val="tx1"/>
                </a:solidFill>
              </a:rPr>
              <a:t>Limited large classes to 10,000 records.</a:t>
            </a:r>
          </a:p>
          <a:p>
            <a:pPr algn="just"/>
            <a:r>
              <a:rPr lang="en-US" b="1" dirty="0">
                <a:solidFill>
                  <a:schemeClr val="tx1"/>
                </a:solidFill>
              </a:rPr>
              <a:t>Controlled Dataset: </a:t>
            </a:r>
            <a:r>
              <a:rPr lang="en-US" dirty="0">
                <a:solidFill>
                  <a:schemeClr val="tx1"/>
                </a:solidFill>
              </a:rPr>
              <a:t>Removed classes with fewer than 1,000 records.</a:t>
            </a:r>
          </a:p>
          <a:p>
            <a:pPr algn="just"/>
            <a:r>
              <a:rPr lang="en-US" dirty="0">
                <a:solidFill>
                  <a:schemeClr val="tx1"/>
                </a:solidFill>
              </a:rPr>
              <a:t>Baseline and balanced versions were tested using </a:t>
            </a:r>
            <a:r>
              <a:rPr lang="en-US" sz="2400" i="1" dirty="0">
                <a:solidFill>
                  <a:schemeClr val="tx1"/>
                </a:solidFill>
              </a:rPr>
              <a:t>class_weight=“balanced”</a:t>
            </a:r>
            <a:r>
              <a:rPr lang="en-US" sz="2400" dirty="0">
                <a:solidFill>
                  <a:schemeClr val="tx1"/>
                </a:solidFill>
              </a:rPr>
              <a:t> </a:t>
            </a:r>
            <a:r>
              <a:rPr lang="en-US" dirty="0">
                <a:solidFill>
                  <a:schemeClr val="tx1"/>
                </a:solidFill>
              </a:rPr>
              <a:t>to improve minority-class detection.</a:t>
            </a:r>
          </a:p>
          <a:p>
            <a:pPr algn="just"/>
            <a:r>
              <a:rPr lang="en-US" dirty="0">
                <a:solidFill>
                  <a:schemeClr val="tx1"/>
                </a:solidFill>
              </a:rPr>
              <a:t>Decision Tree and Random Forest were trained on the raw datasets, while Logistic Regression used scaled data because it is sensitive to feature magnitude (Nugroho et al., 2018).</a:t>
            </a:r>
          </a:p>
          <a:p>
            <a:pPr algn="just"/>
            <a:r>
              <a:rPr lang="en-US" dirty="0">
                <a:solidFill>
                  <a:schemeClr val="tx1"/>
                </a:solidFill>
              </a:rPr>
              <a:t>After the first results, two tuned Decision Tree versions were also tested. The final tuned version used:</a:t>
            </a:r>
          </a:p>
          <a:p>
            <a:pPr algn="ctr"/>
            <a:r>
              <a:rPr lang="en-US" sz="2000" i="1" dirty="0">
                <a:solidFill>
                  <a:schemeClr val="tx1"/>
                </a:solidFill>
              </a:rPr>
              <a:t>criterion = “log_loss”</a:t>
            </a:r>
          </a:p>
          <a:p>
            <a:pPr algn="ctr"/>
            <a:r>
              <a:rPr lang="en-US" sz="2000" i="1" dirty="0">
                <a:solidFill>
                  <a:schemeClr val="tx1"/>
                </a:solidFill>
              </a:rPr>
              <a:t>class_weight = “balanced”</a:t>
            </a:r>
          </a:p>
          <a:p>
            <a:pPr algn="ctr"/>
            <a:r>
              <a:rPr lang="en-US" sz="2000" i="1" dirty="0">
                <a:solidFill>
                  <a:schemeClr val="tx1"/>
                </a:solidFill>
              </a:rPr>
              <a:t>min_samples_split = 3</a:t>
            </a:r>
          </a:p>
          <a:p>
            <a:pPr algn="ctr"/>
            <a:r>
              <a:rPr lang="en-US" sz="2000" i="1" dirty="0">
                <a:solidFill>
                  <a:schemeClr val="tx1"/>
                </a:solidFill>
              </a:rPr>
              <a:t>random_state = 42</a:t>
            </a:r>
          </a:p>
        </p:txBody>
      </p:sp>
      <p:sp>
        <p:nvSpPr>
          <p:cNvPr id="8" name="Text Placeholder 4">
            <a:extLst>
              <a:ext uri="{FF2B5EF4-FFF2-40B4-BE49-F238E27FC236}">
                <a16:creationId xmlns:a16="http://schemas.microsoft.com/office/drawing/2014/main" id="{9983B177-5CEB-A5A3-9EBD-A40E726C2D0D}"/>
              </a:ext>
            </a:extLst>
          </p:cNvPr>
          <p:cNvSpPr txBox="1">
            <a:spLocks/>
          </p:cNvSpPr>
          <p:nvPr/>
        </p:nvSpPr>
        <p:spPr>
          <a:xfrm>
            <a:off x="22421124" y="14468658"/>
            <a:ext cx="10048874" cy="7463559"/>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Models were evaluated using accuracy, precision, recall, macro F1-score, weighted F1-score, confusion matrix and training time (Müller and Guido, 2017).</a:t>
            </a:r>
          </a:p>
          <a:p>
            <a:pPr algn="just"/>
            <a:r>
              <a:rPr lang="en-US" dirty="0">
                <a:solidFill>
                  <a:schemeClr val="tx1"/>
                </a:solidFill>
              </a:rPr>
              <a:t>Accuracy alone was not enough because the dataset was highly imbalanced. Macro F1-score was important because it gives equal weight to each class, including rare attacks.</a:t>
            </a:r>
          </a:p>
          <a:p>
            <a:pPr algn="just"/>
            <a:r>
              <a:rPr lang="en-US" dirty="0">
                <a:solidFill>
                  <a:schemeClr val="tx1"/>
                </a:solidFill>
              </a:rPr>
              <a:t>Logistic Regression was the weakest model. It struggled with minority attack classes and had higher training time.</a:t>
            </a:r>
          </a:p>
          <a:p>
            <a:pPr algn="just"/>
            <a:r>
              <a:rPr lang="en-US" dirty="0">
                <a:solidFill>
                  <a:schemeClr val="tx1"/>
                </a:solidFill>
              </a:rPr>
              <a:t>Random Forest achieved strong results, but it was heavier and less suitable for the lightweight objective.</a:t>
            </a:r>
          </a:p>
          <a:p>
            <a:pPr algn="just"/>
            <a:r>
              <a:rPr lang="en-US" dirty="0">
                <a:solidFill>
                  <a:schemeClr val="tx1"/>
                </a:solidFill>
              </a:rPr>
              <a:t>Decision Tree gave the best balance between classification performance, runtime efficiency, interpretability and attack coverage. </a:t>
            </a:r>
          </a:p>
          <a:p>
            <a:pPr algn="just"/>
            <a:r>
              <a:rPr lang="en-US" dirty="0">
                <a:solidFill>
                  <a:schemeClr val="tx1"/>
                </a:solidFill>
              </a:rPr>
              <a:t>The final selected model was </a:t>
            </a:r>
            <a:r>
              <a:rPr lang="en-US" b="1" dirty="0">
                <a:solidFill>
                  <a:schemeClr val="tx1"/>
                </a:solidFill>
              </a:rPr>
              <a:t>Decision Tree – Full Dataset Balanced Tuned 2.</a:t>
            </a:r>
          </a:p>
          <a:p>
            <a:pPr algn="just"/>
            <a:r>
              <a:rPr lang="en-US" dirty="0">
                <a:solidFill>
                  <a:schemeClr val="tx1"/>
                </a:solidFill>
              </a:rPr>
              <a:t>This model kept all traffic classes and performed strongly on the main classes, while still detecting some rare attacks such as Heartbleed, Infiltration and SQL Injection.</a:t>
            </a:r>
          </a:p>
        </p:txBody>
      </p:sp>
      <p:pic>
        <p:nvPicPr>
          <p:cNvPr id="14" name="Picture 13">
            <a:extLst>
              <a:ext uri="{FF2B5EF4-FFF2-40B4-BE49-F238E27FC236}">
                <a16:creationId xmlns:a16="http://schemas.microsoft.com/office/drawing/2014/main" id="{0DA51407-45C4-3DA7-FA70-D31ABB28439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2584329" y="22416988"/>
            <a:ext cx="9600583" cy="7117465"/>
          </a:xfrm>
          <a:prstGeom prst="rect">
            <a:avLst/>
          </a:prstGeom>
        </p:spPr>
      </p:pic>
      <p:sp>
        <p:nvSpPr>
          <p:cNvPr id="10" name="Text Placeholder 4">
            <a:extLst>
              <a:ext uri="{FF2B5EF4-FFF2-40B4-BE49-F238E27FC236}">
                <a16:creationId xmlns:a16="http://schemas.microsoft.com/office/drawing/2014/main" id="{9C2CD7EE-7990-9502-DD2C-3B95F92DA7C0}"/>
              </a:ext>
            </a:extLst>
          </p:cNvPr>
          <p:cNvSpPr txBox="1">
            <a:spLocks/>
          </p:cNvSpPr>
          <p:nvPr/>
        </p:nvSpPr>
        <p:spPr>
          <a:xfrm>
            <a:off x="33382622" y="6439621"/>
            <a:ext cx="10048874" cy="4924403"/>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algn="just"/>
            <a:r>
              <a:rPr lang="en-US" dirty="0">
                <a:solidFill>
                  <a:schemeClr val="tx1"/>
                </a:solidFill>
              </a:rPr>
              <a:t>A Streamlit dashboard prototype was created to demonstrate how the final model could be reused outside the notebook (Streamlit, 2024).</a:t>
            </a:r>
          </a:p>
          <a:p>
            <a:pPr algn="just"/>
            <a:r>
              <a:rPr lang="en-US" dirty="0">
                <a:solidFill>
                  <a:schemeClr val="tx1"/>
                </a:solidFill>
              </a:rPr>
              <a:t>The final Decision Tree model was saved using Joblib together with the selected 39 features, label encoder, and trained model file (McQuaid, 2026d).</a:t>
            </a:r>
          </a:p>
          <a:p>
            <a:pPr algn="just"/>
            <a:r>
              <a:rPr lang="en-US" dirty="0">
                <a:solidFill>
                  <a:schemeClr val="tx1"/>
                </a:solidFill>
              </a:rPr>
              <a:t>The dashboard allows the user to upload a CSV file with network flow records, check if the required features are present, run traffic predictions, view benign and suspicious traffic summaries, download the prediction results and view feature importance.</a:t>
            </a:r>
          </a:p>
          <a:p>
            <a:pPr algn="just"/>
            <a:r>
              <a:rPr lang="en-US" dirty="0">
                <a:solidFill>
                  <a:schemeClr val="tx1"/>
                </a:solidFill>
              </a:rPr>
              <a:t>This is still a prototype, not a full production IDS. It does not capture live network packets directly yet.</a:t>
            </a:r>
          </a:p>
        </p:txBody>
      </p:sp>
      <p:pic>
        <p:nvPicPr>
          <p:cNvPr id="13" name="Picture 12">
            <a:extLst>
              <a:ext uri="{FF2B5EF4-FFF2-40B4-BE49-F238E27FC236}">
                <a16:creationId xmlns:a16="http://schemas.microsoft.com/office/drawing/2014/main" id="{53FC90C0-12E5-1275-3202-CA513ACABFE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3723344" y="11344774"/>
            <a:ext cx="9293216" cy="3713043"/>
          </a:xfrm>
          <a:prstGeom prst="rect">
            <a:avLst/>
          </a:prstGeom>
        </p:spPr>
      </p:pic>
      <p:pic>
        <p:nvPicPr>
          <p:cNvPr id="17" name="Picture 16">
            <a:extLst>
              <a:ext uri="{FF2B5EF4-FFF2-40B4-BE49-F238E27FC236}">
                <a16:creationId xmlns:a16="http://schemas.microsoft.com/office/drawing/2014/main" id="{E091D09D-3C67-B5A2-76AE-4CE2FE13DDD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3723344" y="15506196"/>
            <a:ext cx="9293216" cy="3914331"/>
          </a:xfrm>
          <a:prstGeom prst="rect">
            <a:avLst/>
          </a:prstGeom>
        </p:spPr>
      </p:pic>
      <p:sp>
        <p:nvSpPr>
          <p:cNvPr id="19" name="TextBox 18">
            <a:extLst>
              <a:ext uri="{FF2B5EF4-FFF2-40B4-BE49-F238E27FC236}">
                <a16:creationId xmlns:a16="http://schemas.microsoft.com/office/drawing/2014/main" id="{1E19198E-4066-35E1-1945-951D3D7385D1}"/>
              </a:ext>
            </a:extLst>
          </p:cNvPr>
          <p:cNvSpPr txBox="1"/>
          <p:nvPr/>
        </p:nvSpPr>
        <p:spPr>
          <a:xfrm>
            <a:off x="36629750" y="15135116"/>
            <a:ext cx="3503716" cy="307777"/>
          </a:xfrm>
          <a:prstGeom prst="rect">
            <a:avLst/>
          </a:prstGeom>
          <a:noFill/>
        </p:spPr>
        <p:txBody>
          <a:bodyPr wrap="none" rtlCol="0">
            <a:spAutoFit/>
          </a:bodyPr>
          <a:lstStyle/>
          <a:p>
            <a:r>
              <a:rPr lang="en-IE" sz="1400" i="1" dirty="0">
                <a:latin typeface="Times New Roman" panose="02020603050405020304" pitchFamily="18" charset="0"/>
                <a:cs typeface="Times New Roman" panose="02020603050405020304" pitchFamily="18" charset="0"/>
              </a:rPr>
              <a:t>Initial Streamlit IDS dashboard upload screen</a:t>
            </a:r>
          </a:p>
        </p:txBody>
      </p:sp>
      <p:sp>
        <p:nvSpPr>
          <p:cNvPr id="20" name="TextBox 19">
            <a:extLst>
              <a:ext uri="{FF2B5EF4-FFF2-40B4-BE49-F238E27FC236}">
                <a16:creationId xmlns:a16="http://schemas.microsoft.com/office/drawing/2014/main" id="{D134E12D-9076-D003-5302-67A468C2934B}"/>
              </a:ext>
            </a:extLst>
          </p:cNvPr>
          <p:cNvSpPr txBox="1"/>
          <p:nvPr/>
        </p:nvSpPr>
        <p:spPr>
          <a:xfrm>
            <a:off x="35515919" y="19486494"/>
            <a:ext cx="5731377"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Uploaded CSV preview, input preparation summary and prediction overview</a:t>
            </a:r>
          </a:p>
        </p:txBody>
      </p:sp>
      <p:pic>
        <p:nvPicPr>
          <p:cNvPr id="23" name="Picture 22">
            <a:extLst>
              <a:ext uri="{FF2B5EF4-FFF2-40B4-BE49-F238E27FC236}">
                <a16:creationId xmlns:a16="http://schemas.microsoft.com/office/drawing/2014/main" id="{C26A5C31-26FF-D3B0-E0A0-5FC88843E16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3754050" y="19801653"/>
            <a:ext cx="9355112" cy="4234537"/>
          </a:xfrm>
          <a:prstGeom prst="rect">
            <a:avLst/>
          </a:prstGeom>
        </p:spPr>
      </p:pic>
      <p:sp>
        <p:nvSpPr>
          <p:cNvPr id="24" name="TextBox 23">
            <a:extLst>
              <a:ext uri="{FF2B5EF4-FFF2-40B4-BE49-F238E27FC236}">
                <a16:creationId xmlns:a16="http://schemas.microsoft.com/office/drawing/2014/main" id="{5D528063-B6C9-8D0A-AC8D-778F53D1AA31}"/>
              </a:ext>
            </a:extLst>
          </p:cNvPr>
          <p:cNvSpPr txBox="1"/>
          <p:nvPr/>
        </p:nvSpPr>
        <p:spPr>
          <a:xfrm>
            <a:off x="36187584" y="24065683"/>
            <a:ext cx="4426148"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Prediction output table and predicted traffic class summary</a:t>
            </a:r>
          </a:p>
        </p:txBody>
      </p:sp>
      <p:sp>
        <p:nvSpPr>
          <p:cNvPr id="26" name="TextBox 25">
            <a:extLst>
              <a:ext uri="{FF2B5EF4-FFF2-40B4-BE49-F238E27FC236}">
                <a16:creationId xmlns:a16="http://schemas.microsoft.com/office/drawing/2014/main" id="{8C5AF9B8-6917-393D-C27C-9926F826EFF8}"/>
              </a:ext>
            </a:extLst>
          </p:cNvPr>
          <p:cNvSpPr txBox="1"/>
          <p:nvPr/>
        </p:nvSpPr>
        <p:spPr>
          <a:xfrm>
            <a:off x="33560413" y="24894509"/>
            <a:ext cx="9680489" cy="5262979"/>
          </a:xfrm>
          <a:prstGeom prst="rect">
            <a:avLst/>
          </a:prstGeom>
          <a:noFill/>
        </p:spPr>
        <p:txBody>
          <a:bodyPr wrap="square" rtlCol="0">
            <a:spAutoFit/>
          </a:bodyPr>
          <a:lstStyle/>
          <a:p>
            <a:pPr algn="just"/>
            <a:r>
              <a:rPr lang="en-IE" sz="2400" dirty="0">
                <a:latin typeface="Times New Roman" panose="02020603050405020304" pitchFamily="18" charset="0"/>
                <a:cs typeface="Times New Roman" panose="02020603050405020304" pitchFamily="18" charset="0"/>
              </a:rPr>
              <a:t>The project shows that a lightweight machine learning IDS can support the detection of benign and malicious network traffic using CICIDS2017. Decision Tree – Full Dataset Balanced Tuned 2 was selected as the final model because it offered the best balance between performance, runtime, interpretability and attack coverage. The Streamlit prototype showed how the saved model could be reused for traffic prediction and suspicious traffic summaries. </a:t>
            </a:r>
          </a:p>
          <a:p>
            <a:pPr algn="just"/>
            <a:r>
              <a:rPr lang="en-US" sz="2400" dirty="0">
                <a:latin typeface="Times New Roman" panose="02020603050405020304" pitchFamily="18" charset="0"/>
                <a:cs typeface="Times New Roman" panose="02020603050405020304" pitchFamily="18" charset="0"/>
              </a:rPr>
              <a:t>Future improvements for this project could include integrating live network traffic capture for real-time IDS monitoring, retraining the models using newer cybersecurity datasets to improve attack detection, and expanding the Streamlit dashboard with automated alerts and advanced monitoring features. Future research could also compare lightweight machine learning models with deep learning approaches to analyze performance and computational trade-offs.</a:t>
            </a:r>
            <a:endParaRPr lang="en-IE"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60527046"/>
      </p:ext>
    </p:extLst>
  </p:cSld>
  <p:clrMapOvr>
    <a:masterClrMapping/>
  </p:clrMapOvr>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3709</TotalTime>
  <Words>1591</Words>
  <Application>Microsoft Macintosh PowerPoint</Application>
  <PresentationFormat>Custom</PresentationFormat>
  <Paragraphs>66</Paragraphs>
  <Slides>1</Slides>
  <Notes>1</Notes>
  <HiddenSlides>0</HiddenSlides>
  <MMClips>0</MMClips>
  <ScaleCrop>false</ScaleCrop>
  <HeadingPairs>
    <vt:vector size="8" baseType="variant">
      <vt:variant>
        <vt:lpstr>Fonts Used</vt:lpstr>
      </vt:variant>
      <vt:variant>
        <vt:i4>4</vt:i4>
      </vt:variant>
      <vt:variant>
        <vt:lpstr>Theme</vt:lpstr>
      </vt:variant>
      <vt:variant>
        <vt:i4>3</vt:i4>
      </vt:variant>
      <vt:variant>
        <vt:lpstr>Embedded OLE Servers</vt:lpstr>
      </vt:variant>
      <vt:variant>
        <vt:i4>1</vt:i4>
      </vt:variant>
      <vt:variant>
        <vt:lpstr>Slide Titles</vt:lpstr>
      </vt:variant>
      <vt:variant>
        <vt:i4>1</vt:i4>
      </vt:variant>
    </vt:vector>
  </HeadingPairs>
  <TitlesOfParts>
    <vt:vector size="9" baseType="lpstr">
      <vt:lpstr>Arial</vt:lpstr>
      <vt:lpstr>Calibri</vt:lpstr>
      <vt:lpstr>Times New Roman</vt:lpstr>
      <vt:lpstr>Trebuchet MS</vt:lpstr>
      <vt:lpstr>36x48-Template-V2b</vt:lpstr>
      <vt:lpstr>1_Classic 3 Columns</vt:lpstr>
      <vt:lpstr>Classic - Wide Center</vt:lpstr>
      <vt:lpstr>Image</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Thiago Gonçalves</cp:lastModifiedBy>
  <cp:revision>146</cp:revision>
  <dcterms:created xsi:type="dcterms:W3CDTF">2012-02-03T19:11:35Z</dcterms:created>
  <dcterms:modified xsi:type="dcterms:W3CDTF">2026-05-30T17:27:56Z</dcterms:modified>
</cp:coreProperties>
</file>