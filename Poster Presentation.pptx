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DB924E-6AE5-4C8B-92A2-E13E5F2C0196}" v="27" dt="2026-05-27T19:51:35.042"/>
    <p1510:client id="{D6BF3BDA-612A-C84B-B48F-C5B667FBC9FE}" v="1" dt="2026-05-27T19:54:02.0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170" autoAdjust="0"/>
    <p:restoredTop sz="94365" autoAdjust="0"/>
  </p:normalViewPr>
  <p:slideViewPr>
    <p:cSldViewPr snapToGrid="0" snapToObjects="1" showGuides="1">
      <p:cViewPr>
        <p:scale>
          <a:sx n="86" d="100"/>
          <a:sy n="86" d="100"/>
        </p:scale>
        <p:origin x="-14440" y="-11896"/>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5/27/26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5/27/26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41" name="Object 40"/>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43" name="Object 42"/>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56" name="Object 55"/>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58" name="Object 57"/>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6" name="Object 45"/>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8" name="Object 47"/>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1" name="Object 60"/>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2" name="Object 61"/>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5" name="Object 44"/>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7" name="Object 46"/>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0" name="Object 59"/>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1" name="Object 60"/>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374895" y="6264690"/>
            <a:ext cx="10056813" cy="6001621"/>
          </a:xfrm>
        </p:spPr>
        <p:txBody>
          <a:bodyPr/>
          <a:lstStyle/>
          <a:p>
            <a:pPr algn="just"/>
            <a:r>
              <a:rPr lang="en-IE" dirty="0">
                <a:solidFill>
                  <a:schemeClr val="tx1"/>
                </a:solidFill>
              </a:rPr>
              <a:t>This project focused on developing a lightweight Network Intrusion Detection System (IDS) using machine learning techniques to classify benign and malicious network traffic. It followed the CRISP-DM framework and used the CIC-IDS2017 dataset as the main source of network flow data. Multiple preprocessing techniques were applied to prepare this dataset for three different machine learning models: Random Forest, Decision Tree and Logistic Regression. Then, the models were evaluated using accuracy, precision, recall, macro F1-score, and confusion matrix analysis.</a:t>
            </a:r>
          </a:p>
          <a:p>
            <a:pPr algn="just"/>
            <a:r>
              <a:rPr lang="en-IE" dirty="0">
                <a:solidFill>
                  <a:schemeClr val="tx1"/>
                </a:solidFill>
              </a:rPr>
              <a:t>The Decision Tree Full Dataset Balanced Tuned 2 model was selected as the final lightweight IDS solution because it achieved the best balance between strong classification performance, attack coverage, interpretability and runtime efficiency.</a:t>
            </a:r>
          </a:p>
          <a:p>
            <a:endParaRPr lang="en-US" dirty="0"/>
          </a:p>
        </p:txBody>
      </p:sp>
      <p:sp>
        <p:nvSpPr>
          <p:cNvPr id="3" name="Text Placeholder 2"/>
          <p:cNvSpPr>
            <a:spLocks noGrp="1"/>
          </p:cNvSpPr>
          <p:nvPr>
            <p:ph type="body" sz="quarter" idx="11"/>
          </p:nvPr>
        </p:nvSpPr>
        <p:spPr/>
        <p:txBody>
          <a:bodyPr/>
          <a:lstStyle/>
          <a:p>
            <a:r>
              <a:rPr lang="en-US" dirty="0">
                <a:solidFill>
                  <a:schemeClr val="tx2"/>
                </a:solidFill>
                <a:latin typeface="Arial" panose="020B0604020202020204" pitchFamily="34" charset="0"/>
                <a:cs typeface="Arial" panose="020B0604020202020204" pitchFamily="34" charset="0"/>
              </a:rPr>
              <a:t>ABSTRACT</a:t>
            </a:r>
          </a:p>
        </p:txBody>
      </p:sp>
      <p:sp>
        <p:nvSpPr>
          <p:cNvPr id="4" name="Text Placeholder 3"/>
          <p:cNvSpPr>
            <a:spLocks noGrp="1"/>
          </p:cNvSpPr>
          <p:nvPr>
            <p:ph type="body" sz="quarter" idx="20"/>
          </p:nvPr>
        </p:nvSpPr>
        <p:spPr>
          <a:xfrm>
            <a:off x="496930" y="16070149"/>
            <a:ext cx="10050462" cy="754045"/>
          </a:xfrm>
        </p:spPr>
        <p:txBody>
          <a:bodyPr/>
          <a:lstStyle/>
          <a:p>
            <a:r>
              <a:rPr lang="en-US" dirty="0">
                <a:solidFill>
                  <a:schemeClr val="tx2"/>
                </a:solidFill>
                <a:latin typeface="Arial" panose="020B0604020202020204" pitchFamily="34" charset="0"/>
                <a:cs typeface="Arial" panose="020B0604020202020204" pitchFamily="34" charset="0"/>
              </a:rPr>
              <a:t>CONCEPTUAL FRAMEWORK</a:t>
            </a:r>
          </a:p>
        </p:txBody>
      </p:sp>
      <p:sp>
        <p:nvSpPr>
          <p:cNvPr id="6" name="Text Placeholder 5"/>
          <p:cNvSpPr>
            <a:spLocks noGrp="1"/>
          </p:cNvSpPr>
          <p:nvPr>
            <p:ph type="body" sz="quarter" idx="22"/>
          </p:nvPr>
        </p:nvSpPr>
        <p:spPr>
          <a:xfrm>
            <a:off x="498517" y="27536679"/>
            <a:ext cx="10048875" cy="754045"/>
          </a:xfrm>
        </p:spPr>
        <p:txBody>
          <a:bodyPr/>
          <a:lstStyle/>
          <a:p>
            <a:r>
              <a:rPr lang="en-US" dirty="0">
                <a:solidFill>
                  <a:schemeClr val="tx2"/>
                </a:solidFill>
                <a:latin typeface="Arial" panose="020B0604020202020204" pitchFamily="34" charset="0"/>
                <a:cs typeface="Arial" panose="020B0604020202020204" pitchFamily="34" charset="0"/>
              </a:rPr>
              <a:t> BUSINESS UNDERSTANDING</a:t>
            </a:r>
          </a:p>
        </p:txBody>
      </p:sp>
      <p:sp>
        <p:nvSpPr>
          <p:cNvPr id="9" name="Text Placeholder 8"/>
          <p:cNvSpPr>
            <a:spLocks noGrp="1"/>
          </p:cNvSpPr>
          <p:nvPr>
            <p:ph type="body" sz="quarter" idx="25"/>
          </p:nvPr>
        </p:nvSpPr>
        <p:spPr>
          <a:xfrm>
            <a:off x="33346443" y="24461559"/>
            <a:ext cx="10047018" cy="677100"/>
          </a:xfrm>
        </p:spPr>
        <p:txBody>
          <a:bodyPr/>
          <a:lstStyle/>
          <a:p>
            <a:r>
              <a:rPr lang="en-US" sz="3200" dirty="0">
                <a:solidFill>
                  <a:schemeClr val="tx2"/>
                </a:solidFill>
                <a:latin typeface="Arial" panose="020B0604020202020204" pitchFamily="34" charset="0"/>
                <a:cs typeface="Arial" panose="020B0604020202020204" pitchFamily="34" charset="0"/>
              </a:rPr>
              <a:t>CONCLUSIONS</a:t>
            </a:r>
          </a:p>
        </p:txBody>
      </p:sp>
      <p:sp>
        <p:nvSpPr>
          <p:cNvPr id="11" name="Text Placeholder 10"/>
          <p:cNvSpPr>
            <a:spLocks noGrp="1"/>
          </p:cNvSpPr>
          <p:nvPr>
            <p:ph type="body" sz="quarter" idx="27"/>
          </p:nvPr>
        </p:nvSpPr>
        <p:spPr>
          <a:xfrm>
            <a:off x="33392567" y="28504101"/>
            <a:ext cx="10047018" cy="754045"/>
          </a:xfrm>
        </p:spPr>
        <p:txBody>
          <a:bodyPr/>
          <a:lstStyle/>
          <a:p>
            <a:r>
              <a:rPr lang="en-US" dirty="0">
                <a:solidFill>
                  <a:schemeClr val="tx2"/>
                </a:solidFill>
                <a:latin typeface="Arial" panose="020B0604020202020204" pitchFamily="34" charset="0"/>
                <a:cs typeface="Arial" panose="020B0604020202020204" pitchFamily="34" charset="0"/>
              </a:rPr>
              <a:t>REFERENCES</a:t>
            </a:r>
          </a:p>
        </p:txBody>
      </p:sp>
      <p:sp>
        <p:nvSpPr>
          <p:cNvPr id="16" name="Text Placeholder 15"/>
          <p:cNvSpPr>
            <a:spLocks noGrp="1"/>
          </p:cNvSpPr>
          <p:nvPr>
            <p:ph type="body" sz="quarter" idx="150"/>
          </p:nvPr>
        </p:nvSpPr>
        <p:spPr/>
        <p:txBody>
          <a:bodyPr>
            <a:normAutofit/>
          </a:bodyPr>
          <a:lstStyle/>
          <a:p>
            <a:r>
              <a:rPr lang="en-US" sz="4800" b="1" dirty="0">
                <a:latin typeface="Arial" panose="020B0604020202020204" pitchFamily="34" charset="0"/>
                <a:cs typeface="Arial" panose="020B0604020202020204" pitchFamily="34" charset="0"/>
              </a:rPr>
              <a:t>Sander Soares &amp; Thiago Gon</a:t>
            </a:r>
            <a:r>
              <a:rPr lang="en-IE" b="1" dirty="0"/>
              <a:t>çalves</a:t>
            </a:r>
            <a:r>
              <a:rPr lang="en-US" sz="4800" b="1" dirty="0">
                <a:latin typeface="Arial" panose="020B0604020202020204" pitchFamily="34" charset="0"/>
                <a:cs typeface="Arial" panose="020B0604020202020204" pitchFamily="34" charset="0"/>
              </a:rPr>
              <a:t>, CCT College Dublin, May 2026</a:t>
            </a:r>
          </a:p>
        </p:txBody>
      </p:sp>
      <p:sp>
        <p:nvSpPr>
          <p:cNvPr id="18" name="Text Placeholder 17"/>
          <p:cNvSpPr>
            <a:spLocks noGrp="1"/>
          </p:cNvSpPr>
          <p:nvPr>
            <p:ph type="body" sz="quarter" idx="153"/>
          </p:nvPr>
        </p:nvSpPr>
        <p:spPr>
          <a:xfrm>
            <a:off x="58530" y="876749"/>
            <a:ext cx="42901013" cy="2277387"/>
          </a:xfrm>
        </p:spPr>
        <p:txBody>
          <a:bodyPr>
            <a:normAutofit fontScale="70000" lnSpcReduction="20000"/>
          </a:bodyPr>
          <a:lstStyle/>
          <a:p>
            <a:r>
              <a:rPr lang="en-US" b="1" cap="small" dirty="0">
                <a:latin typeface="Arial" panose="020B0604020202020204" pitchFamily="34" charset="0"/>
                <a:cs typeface="Arial" panose="020B0604020202020204" pitchFamily="34" charset="0"/>
              </a:rPr>
              <a:t>LIGHTWEIGHT NETWORK INTRUSION DETECTION SYSTEM (IDS) USING MACHINE LEARNING FOR CYBERATTACK CLASSIFICATION</a:t>
            </a:r>
            <a:endParaRPr lang="en-US" dirty="0">
              <a:latin typeface="+mn-lt"/>
            </a:endParaRPr>
          </a:p>
        </p:txBody>
      </p:sp>
      <p:sp>
        <p:nvSpPr>
          <p:cNvPr id="32" name="Content Placeholder 2"/>
          <p:cNvSpPr txBox="1">
            <a:spLocks/>
          </p:cNvSpPr>
          <p:nvPr/>
        </p:nvSpPr>
        <p:spPr>
          <a:xfrm>
            <a:off x="670763" y="16995258"/>
            <a:ext cx="9726504" cy="41784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anose="02020603050405020304" pitchFamily="18" charset="0"/>
              </a:rPr>
              <a:t>This project used the Cross-Industry Standard Process for Data Mining (CRISP-DM) model as a method for creating an efficient and well-structured Lightweight Intrusion Detection System (LIDS). Using the CRISP-DM model allowed the project to follow a systematic approach throughout all six phases of the Data Mining process: Business Understanding, Data Understanding, Data Preparation, Modelling, Evaluation and Deployment. The CRISP-DM model also assisted in maintaining a logical sequence during dataset preprocessing, machine learning experimentation, model evaluation and deployment planning stages (Schröer, et al., 2020)</a:t>
            </a:r>
            <a:endParaRPr lang="en-IE" sz="2500" dirty="0">
              <a:latin typeface="Times New Roman" panose="02020603050405020304" pitchFamily="18" charset="0"/>
              <a:cs typeface="Times New Roman" panose="02020603050405020304" pitchFamily="18"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40" name="Text Placeholder 3"/>
          <p:cNvSpPr>
            <a:spLocks noGrp="1"/>
          </p:cNvSpPr>
          <p:nvPr>
            <p:ph type="body" sz="quarter" idx="20"/>
          </p:nvPr>
        </p:nvSpPr>
        <p:spPr>
          <a:xfrm>
            <a:off x="550697" y="11725870"/>
            <a:ext cx="10026754" cy="754045"/>
          </a:xfrm>
        </p:spPr>
        <p:txBody>
          <a:bodyPr/>
          <a:lstStyle/>
          <a:p>
            <a:r>
              <a:rPr lang="en-US" dirty="0">
                <a:solidFill>
                  <a:schemeClr val="tx2"/>
                </a:solidFill>
                <a:latin typeface="Arial" panose="020B0604020202020204" pitchFamily="34" charset="0"/>
                <a:cs typeface="Arial" panose="020B0604020202020204" pitchFamily="34" charset="0"/>
              </a:rPr>
              <a:t>RESEARCH QUESTIONS</a:t>
            </a:r>
          </a:p>
        </p:txBody>
      </p:sp>
      <p:sp>
        <p:nvSpPr>
          <p:cNvPr id="41" name="Content Placeholder 2"/>
          <p:cNvSpPr txBox="1">
            <a:spLocks/>
          </p:cNvSpPr>
          <p:nvPr/>
        </p:nvSpPr>
        <p:spPr>
          <a:xfrm>
            <a:off x="534829" y="12492917"/>
            <a:ext cx="9736942" cy="37929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itchFamily="18" charset="0"/>
              </a:rPr>
              <a:t>The following four questions represent the main focus of this research study:</a:t>
            </a:r>
            <a:endParaRPr lang="en-IE" sz="2500" dirty="0">
              <a:latin typeface="Times New Roman" panose="02020603050405020304" pitchFamily="18" charset="0"/>
              <a:cs typeface="Times New Roman" pitchFamily="18" charset="0"/>
            </a:endParaRP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Q.1.</a:t>
            </a:r>
            <a:r>
              <a:rPr lang="en-IE" sz="2500" dirty="0">
                <a:latin typeface="Times New Roman" panose="02020603050405020304" pitchFamily="18" charset="0"/>
                <a:cs typeface="Times New Roman" panose="02020603050405020304" pitchFamily="18" charset="0"/>
              </a:rPr>
              <a:t> 	Which Machine Learning model perform best for multiclass intrusion detection?</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Q.2</a:t>
            </a:r>
            <a:r>
              <a:rPr lang="en-IE" sz="2500" dirty="0">
                <a:latin typeface="Times New Roman" panose="02020603050405020304" pitchFamily="18" charset="0"/>
                <a:cs typeface="Times New Roman" panose="02020603050405020304" pitchFamily="18" charset="0"/>
              </a:rPr>
              <a:t>. 	How does class imbalance affect attack classification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Q.3 	</a:t>
            </a:r>
            <a:r>
              <a:rPr lang="en-IE" sz="2500" dirty="0">
                <a:latin typeface="Times New Roman" panose="02020603050405020304" pitchFamily="18" charset="0"/>
                <a:cs typeface="Times New Roman" panose="02020603050405020304" pitchFamily="18" charset="0"/>
              </a:rPr>
              <a:t>Can a lightweight and interpretable model achieve strong IDS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Q.4</a:t>
            </a:r>
            <a:r>
              <a:rPr lang="en-IE" sz="2500" dirty="0">
                <a:latin typeface="Times New Roman" panose="02020603050405020304" pitchFamily="18" charset="0"/>
                <a:cs typeface="Times New Roman" panose="02020603050405020304" pitchFamily="18" charset="0"/>
              </a:rPr>
              <a:t>	What limitations remain in the selected model?</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656519" y="29479722"/>
            <a:ext cx="9736942" cy="2621175"/>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None/>
            </a:pPr>
            <a:r>
              <a:rPr lang="en-IE" sz="900" dirty="0">
                <a:latin typeface="Arial" panose="020B0604020202020204" pitchFamily="34" charset="0"/>
                <a:cs typeface="Arial" panose="020B0604020202020204" pitchFamily="34" charset="0"/>
              </a:rPr>
              <a:t>Bandura, A. (1986). Social Foundations of Thought and Action: Social Cognitive Theory. U.S.A: Pearson Education.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Bandura, A. (2006). Guide for constructing self-efficacy scales. In F. </a:t>
            </a:r>
            <a:r>
              <a:rPr lang="en-IE" sz="900" dirty="0" err="1">
                <a:latin typeface="Arial" panose="020B0604020202020204" pitchFamily="34" charset="0"/>
                <a:cs typeface="Arial" panose="020B0604020202020204" pitchFamily="34" charset="0"/>
              </a:rPr>
              <a:t>Pajares</a:t>
            </a:r>
            <a:r>
              <a:rPr lang="en-IE" sz="900" dirty="0">
                <a:latin typeface="Arial" panose="020B0604020202020204" pitchFamily="34" charset="0"/>
                <a:cs typeface="Arial" panose="020B0604020202020204" pitchFamily="34" charset="0"/>
              </a:rPr>
              <a:t>, &amp; T. </a:t>
            </a:r>
            <a:r>
              <a:rPr lang="en-IE" sz="900" dirty="0" err="1">
                <a:latin typeface="Arial" panose="020B0604020202020204" pitchFamily="34" charset="0"/>
                <a:cs typeface="Arial" panose="020B0604020202020204" pitchFamily="34" charset="0"/>
              </a:rPr>
              <a:t>Urdan</a:t>
            </a:r>
            <a:r>
              <a:rPr lang="en-IE" sz="900" dirty="0">
                <a:latin typeface="Arial" panose="020B0604020202020204" pitchFamily="34" charset="0"/>
                <a:cs typeface="Arial" panose="020B0604020202020204" pitchFamily="34" charset="0"/>
              </a:rPr>
              <a:t> (Eds.), Adolescence and education: Vol. 5. Self efficacy and adolescence (pp. 307-337). Greenwich, CT: Information Age.</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Bogdan, R.C., </a:t>
            </a:r>
            <a:r>
              <a:rPr lang="en-IE" sz="900" dirty="0" err="1">
                <a:latin typeface="Arial" panose="020B0604020202020204" pitchFamily="34" charset="0"/>
                <a:cs typeface="Arial" panose="020B0604020202020204" pitchFamily="34" charset="0"/>
              </a:rPr>
              <a:t>Biklin</a:t>
            </a:r>
            <a:r>
              <a:rPr lang="en-IE" sz="900" dirty="0">
                <a:latin typeface="Arial" panose="020B0604020202020204" pitchFamily="34" charset="0"/>
                <a:cs typeface="Arial" panose="020B0604020202020204" pitchFamily="34" charset="0"/>
              </a:rPr>
              <a:t>, S.K. (1998). Qualitative research for education: An introduction to theory and methods. (3rd edition).  Boston: </a:t>
            </a:r>
            <a:r>
              <a:rPr lang="en-IE" sz="900" dirty="0" err="1">
                <a:latin typeface="Arial" panose="020B0604020202020204" pitchFamily="34" charset="0"/>
                <a:cs typeface="Arial" panose="020B0604020202020204" pitchFamily="34" charset="0"/>
              </a:rPr>
              <a:t>Allyn</a:t>
            </a:r>
            <a:r>
              <a:rPr lang="en-IE" sz="900" dirty="0">
                <a:latin typeface="Arial" panose="020B0604020202020204" pitchFamily="34" charset="0"/>
                <a:cs typeface="Arial" panose="020B0604020202020204" pitchFamily="34" charset="0"/>
              </a:rPr>
              <a:t> and Bacon.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Bryman, A. (2004). Social Research Methods.  U.K.: Oxford University Press.</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Creswell, J.W., Miller, G.A. (1997).  Research Methodologies and Doctoral Process.  New Directions for Higher Education, no.99.  U.S.A.: Wiley.</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Hamir, S., </a:t>
            </a:r>
            <a:r>
              <a:rPr lang="en-IE" sz="900" dirty="0" err="1">
                <a:latin typeface="Arial" panose="020B0604020202020204" pitchFamily="34" charset="0"/>
                <a:cs typeface="Arial" panose="020B0604020202020204" pitchFamily="34" charset="0"/>
              </a:rPr>
              <a:t>Maion</a:t>
            </a:r>
            <a:r>
              <a:rPr lang="en-IE" sz="900" dirty="0">
                <a:latin typeface="Arial" panose="020B0604020202020204" pitchFamily="34" charset="0"/>
                <a:cs typeface="Arial" panose="020B0604020202020204" pitchFamily="34" charset="0"/>
              </a:rPr>
              <a:t>, S., Tice, S., &amp; Wideman, A. (2015) Constructivism in</a:t>
            </a:r>
          </a:p>
          <a:p>
            <a:pPr marL="0" indent="0" algn="just" defTabSz="895350">
              <a:buNone/>
            </a:pPr>
            <a:r>
              <a:rPr lang="en-IE" sz="900" dirty="0">
                <a:latin typeface="Arial" panose="020B0604020202020204" pitchFamily="34" charset="0"/>
                <a:cs typeface="Arial" panose="020B0604020202020204" pitchFamily="34" charset="0"/>
              </a:rPr>
              <a:t>Education. Available at: http://constructivism512.weebly.com . Accessed 27th February 2018.</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Miles, M.B., &amp; Huberman, A.M. (1994). Qualitative data analysis: A sourcebook of new methods.  Thousand Oaks, CA: Sage.</a:t>
            </a:r>
          </a:p>
        </p:txBody>
      </p:sp>
      <p:pic>
        <p:nvPicPr>
          <p:cNvPr id="7" name="Picture 6">
            <a:extLst>
              <a:ext uri="{FF2B5EF4-FFF2-40B4-BE49-F238E27FC236}">
                <a16:creationId xmlns:a16="http://schemas.microsoft.com/office/drawing/2014/main" id="{86F2D775-B43E-2D1B-5ECE-DD93EC61B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763" y="20921667"/>
            <a:ext cx="6339073" cy="6339073"/>
          </a:xfrm>
          <a:prstGeom prst="rect">
            <a:avLst/>
          </a:prstGeom>
        </p:spPr>
      </p:pic>
      <p:sp>
        <p:nvSpPr>
          <p:cNvPr id="21" name="Text Placeholder 5">
            <a:extLst>
              <a:ext uri="{FF2B5EF4-FFF2-40B4-BE49-F238E27FC236}">
                <a16:creationId xmlns:a16="http://schemas.microsoft.com/office/drawing/2014/main" id="{348892E9-080F-B06A-105A-7860166FB512}"/>
              </a:ext>
            </a:extLst>
          </p:cNvPr>
          <p:cNvSpPr txBox="1">
            <a:spLocks/>
          </p:cNvSpPr>
          <p:nvPr/>
        </p:nvSpPr>
        <p:spPr>
          <a:xfrm>
            <a:off x="22225422" y="581530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MODELLING</a:t>
            </a:r>
          </a:p>
        </p:txBody>
      </p:sp>
      <p:sp>
        <p:nvSpPr>
          <p:cNvPr id="50" name="Text Placeholder 4">
            <a:extLst>
              <a:ext uri="{FF2B5EF4-FFF2-40B4-BE49-F238E27FC236}">
                <a16:creationId xmlns:a16="http://schemas.microsoft.com/office/drawing/2014/main" id="{4D0FFE05-CCA1-CB00-4EC8-B1F783EEA1FC}"/>
              </a:ext>
            </a:extLst>
          </p:cNvPr>
          <p:cNvSpPr txBox="1">
            <a:spLocks/>
          </p:cNvSpPr>
          <p:nvPr/>
        </p:nvSpPr>
        <p:spPr>
          <a:xfrm>
            <a:off x="11427502" y="6240358"/>
            <a:ext cx="10048874" cy="5924677"/>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Understanding phase focused on analyzing the CICIDS2017 dataset before preprocessing and modelling. The dataset was developed and publicly released by the Canadian Institute for Cybersecurity (CIC) at the University of New Brunswick, Canada, and contains benign and the most up-to-date common attacks, which resembles the true real-world data (PCAPs). It also includes the results of network traffics using </a:t>
            </a:r>
            <a:r>
              <a:rPr lang="en-US" dirty="0" err="1">
                <a:solidFill>
                  <a:schemeClr val="tx1"/>
                </a:solidFill>
              </a:rPr>
              <a:t>CICFlowMeter</a:t>
            </a:r>
            <a:r>
              <a:rPr lang="en-US" dirty="0">
                <a:solidFill>
                  <a:schemeClr val="tx1"/>
                </a:solidFill>
              </a:rPr>
              <a:t> with labeled flows based on the time stamp, source, and destination IPs, source and destination ports, protocols and attack </a:t>
            </a:r>
            <a:r>
              <a:rPr lang="en-IE" dirty="0">
                <a:solidFill>
                  <a:schemeClr val="tx1"/>
                </a:solidFill>
              </a:rPr>
              <a:t>(</a:t>
            </a:r>
            <a:r>
              <a:rPr lang="en-IE" dirty="0" err="1">
                <a:solidFill>
                  <a:schemeClr val="tx1"/>
                </a:solidFill>
              </a:rPr>
              <a:t>Sharafaldin</a:t>
            </a:r>
            <a:r>
              <a:rPr lang="en-IE" dirty="0">
                <a:solidFill>
                  <a:schemeClr val="tx1"/>
                </a:solidFill>
              </a:rPr>
              <a:t> et al., 2018).</a:t>
            </a:r>
            <a:endParaRPr lang="en-US" dirty="0">
              <a:solidFill>
                <a:schemeClr val="tx1"/>
              </a:solidFill>
            </a:endParaRPr>
          </a:p>
          <a:p>
            <a:pPr algn="just"/>
            <a:r>
              <a:rPr lang="en-US" dirty="0">
                <a:solidFill>
                  <a:schemeClr val="tx1"/>
                </a:solidFill>
              </a:rPr>
              <a:t>The dataset was presented in 8 different CSV files, with different traffic’s period and attacks scenario. The dataset after merging had 2,830,743 rows and 79 columns. A total of 1,358 missing values were removed, and we constate that the dataset was very unbalanced, having 80.3% of benign traffic.</a:t>
            </a:r>
          </a:p>
        </p:txBody>
      </p:sp>
      <p:pic>
        <p:nvPicPr>
          <p:cNvPr id="56" name="Picture 55">
            <a:extLst>
              <a:ext uri="{FF2B5EF4-FFF2-40B4-BE49-F238E27FC236}">
                <a16:creationId xmlns:a16="http://schemas.microsoft.com/office/drawing/2014/main" id="{F061BFD2-4BA2-5E5B-C1D2-F9044DF3C4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560599" y="11948369"/>
            <a:ext cx="9782680" cy="5559941"/>
          </a:xfrm>
          <a:prstGeom prst="rect">
            <a:avLst/>
          </a:prstGeom>
        </p:spPr>
      </p:pic>
      <p:sp>
        <p:nvSpPr>
          <p:cNvPr id="63" name="Text Placeholder 5">
            <a:extLst>
              <a:ext uri="{FF2B5EF4-FFF2-40B4-BE49-F238E27FC236}">
                <a16:creationId xmlns:a16="http://schemas.microsoft.com/office/drawing/2014/main" id="{40E268E3-721A-232C-8012-F93EDC4562D5}"/>
              </a:ext>
            </a:extLst>
          </p:cNvPr>
          <p:cNvSpPr txBox="1">
            <a:spLocks/>
          </p:cNvSpPr>
          <p:nvPr/>
        </p:nvSpPr>
        <p:spPr>
          <a:xfrm>
            <a:off x="11307498" y="567957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UNDERSTANDING</a:t>
            </a:r>
          </a:p>
        </p:txBody>
      </p:sp>
      <p:sp>
        <p:nvSpPr>
          <p:cNvPr id="4096" name="Text Placeholder 4">
            <a:extLst>
              <a:ext uri="{FF2B5EF4-FFF2-40B4-BE49-F238E27FC236}">
                <a16:creationId xmlns:a16="http://schemas.microsoft.com/office/drawing/2014/main" id="{03EAC74A-226B-6D49-669C-28C272905BB7}"/>
              </a:ext>
            </a:extLst>
          </p:cNvPr>
          <p:cNvSpPr txBox="1">
            <a:spLocks/>
          </p:cNvSpPr>
          <p:nvPr/>
        </p:nvSpPr>
        <p:spPr>
          <a:xfrm>
            <a:off x="539637" y="28368017"/>
            <a:ext cx="10048874" cy="392412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Modern organizations increasingly depend on networks, cloud systems, remote access, and online services to support their operations, which also increases their exposure to cyber threats capable of causing downtime, data exposure, financial loss, and reputational damage (O'Donovan, 2025). While larger organizations often have dedicated cybersecurity teams, advanced monitoring systems, and stronger financial resources, many SMEs and smaller organizations operate with limited IT infrastructure and without specialized cybersecurity personnel, making them more vulnerable to network attacks and delayed threat detection (Zamani, 2022).</a:t>
            </a:r>
          </a:p>
        </p:txBody>
      </p:sp>
      <p:sp>
        <p:nvSpPr>
          <p:cNvPr id="4108" name="Text Placeholder 5">
            <a:extLst>
              <a:ext uri="{FF2B5EF4-FFF2-40B4-BE49-F238E27FC236}">
                <a16:creationId xmlns:a16="http://schemas.microsoft.com/office/drawing/2014/main" id="{D016A331-906B-1081-14A0-79F2EA8644B6}"/>
              </a:ext>
            </a:extLst>
          </p:cNvPr>
          <p:cNvSpPr txBox="1">
            <a:spLocks/>
          </p:cNvSpPr>
          <p:nvPr/>
        </p:nvSpPr>
        <p:spPr>
          <a:xfrm>
            <a:off x="11294404" y="17669901"/>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PREPARATION</a:t>
            </a:r>
          </a:p>
        </p:txBody>
      </p:sp>
      <p:sp>
        <p:nvSpPr>
          <p:cNvPr id="4109" name="Text Placeholder 4">
            <a:extLst>
              <a:ext uri="{FF2B5EF4-FFF2-40B4-BE49-F238E27FC236}">
                <a16:creationId xmlns:a16="http://schemas.microsoft.com/office/drawing/2014/main" id="{AE35C184-D179-575B-3E66-83C93DF91809}"/>
              </a:ext>
            </a:extLst>
          </p:cNvPr>
          <p:cNvSpPr txBox="1">
            <a:spLocks/>
          </p:cNvSpPr>
          <p:nvPr/>
        </p:nvSpPr>
        <p:spPr>
          <a:xfrm>
            <a:off x="11500720" y="18285473"/>
            <a:ext cx="10048874" cy="5078291"/>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Preparation Phase focused on transforming the CICIDS2017 dataset, the source data upon which the automated intelligent security technology will operate, from the cleaned format into a structured format that is suitable for the purposes of machine learning modelling. During this phase, multiple pre-processing techniques were applied including; defining a target, separating the features from the target, label encoding of the target variables, correlation-based feature selection (CFS), splitting the dataset into train/test datasets, scaling features and preparing the dataset to control for the multiple class types. These stages were valuable to the preparation of a reduced dataset, enhance data quality and create models that are compatible with the requirements of the proposed IDS solution while maintaining the lightweight objective.</a:t>
            </a:r>
          </a:p>
        </p:txBody>
      </p:sp>
      <p:pic>
        <p:nvPicPr>
          <p:cNvPr id="4111" name="Picture 4110">
            <a:extLst>
              <a:ext uri="{FF2B5EF4-FFF2-40B4-BE49-F238E27FC236}">
                <a16:creationId xmlns:a16="http://schemas.microsoft.com/office/drawing/2014/main" id="{CFF2CB3B-095D-01C2-0072-F9F3186914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491690" y="23322901"/>
            <a:ext cx="9680489" cy="6710281"/>
          </a:xfrm>
          <a:prstGeom prst="rect">
            <a:avLst/>
          </a:prstGeom>
        </p:spPr>
      </p:pic>
      <p:sp>
        <p:nvSpPr>
          <p:cNvPr id="4116" name="Text Placeholder 5">
            <a:extLst>
              <a:ext uri="{FF2B5EF4-FFF2-40B4-BE49-F238E27FC236}">
                <a16:creationId xmlns:a16="http://schemas.microsoft.com/office/drawing/2014/main" id="{C31B5985-E191-5737-D2C8-DBB16C148A9F}"/>
              </a:ext>
            </a:extLst>
          </p:cNvPr>
          <p:cNvSpPr txBox="1">
            <a:spLocks/>
          </p:cNvSpPr>
          <p:nvPr/>
        </p:nvSpPr>
        <p:spPr>
          <a:xfrm>
            <a:off x="22351409" y="1386202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EVALUATION</a:t>
            </a:r>
          </a:p>
        </p:txBody>
      </p:sp>
      <p:sp>
        <p:nvSpPr>
          <p:cNvPr id="4117" name="Text Placeholder 8">
            <a:extLst>
              <a:ext uri="{FF2B5EF4-FFF2-40B4-BE49-F238E27FC236}">
                <a16:creationId xmlns:a16="http://schemas.microsoft.com/office/drawing/2014/main" id="{BDC9C4BD-36DF-2030-36EF-646D925E6A7E}"/>
              </a:ext>
            </a:extLst>
          </p:cNvPr>
          <p:cNvSpPr txBox="1">
            <a:spLocks/>
          </p:cNvSpPr>
          <p:nvPr/>
        </p:nvSpPr>
        <p:spPr>
          <a:xfrm>
            <a:off x="33358099" y="5807125"/>
            <a:ext cx="10047018" cy="677100"/>
          </a:xfrm>
          <a:prstGeom prst="rect">
            <a:avLst/>
          </a:prstGeom>
          <a:noFill/>
        </p:spPr>
        <p:txBody>
          <a:bodyPr wrap="square"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3200" dirty="0">
                <a:solidFill>
                  <a:schemeClr val="tx2"/>
                </a:solidFill>
                <a:latin typeface="Arial" panose="020B0604020202020204" pitchFamily="34" charset="0"/>
                <a:cs typeface="Arial" panose="020B0604020202020204" pitchFamily="34" charset="0"/>
              </a:rPr>
              <a:t>DEPLOYMENT</a:t>
            </a:r>
          </a:p>
        </p:txBody>
      </p:sp>
      <p:pic>
        <p:nvPicPr>
          <p:cNvPr id="4119" name="Picture 4118">
            <a:extLst>
              <a:ext uri="{FF2B5EF4-FFF2-40B4-BE49-F238E27FC236}">
                <a16:creationId xmlns:a16="http://schemas.microsoft.com/office/drawing/2014/main" id="{FD2A59F4-C1E0-C700-274B-9209CEFCD81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4829" y="2232751"/>
            <a:ext cx="6406905" cy="2213942"/>
          </a:xfrm>
          <a:prstGeom prst="rect">
            <a:avLst/>
          </a:prstGeom>
        </p:spPr>
      </p:pic>
      <p:sp>
        <p:nvSpPr>
          <p:cNvPr id="5" name="Text Placeholder 4">
            <a:extLst>
              <a:ext uri="{FF2B5EF4-FFF2-40B4-BE49-F238E27FC236}">
                <a16:creationId xmlns:a16="http://schemas.microsoft.com/office/drawing/2014/main" id="{DC026B65-4586-C30B-A59A-7943EB102EF1}"/>
              </a:ext>
            </a:extLst>
          </p:cNvPr>
          <p:cNvSpPr txBox="1">
            <a:spLocks/>
          </p:cNvSpPr>
          <p:nvPr/>
        </p:nvSpPr>
        <p:spPr>
          <a:xfrm>
            <a:off x="22451604" y="6383075"/>
            <a:ext cx="10048874" cy="7478948"/>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Three machine learning models were tested to classify network traffic: </a:t>
            </a:r>
            <a:r>
              <a:rPr lang="en-US" b="1" dirty="0">
                <a:solidFill>
                  <a:schemeClr val="tx1"/>
                </a:solidFill>
              </a:rPr>
              <a:t>Logistic Regression</a:t>
            </a:r>
            <a:r>
              <a:rPr lang="en-US" dirty="0">
                <a:solidFill>
                  <a:schemeClr val="tx1"/>
                </a:solidFill>
              </a:rPr>
              <a:t>, </a:t>
            </a:r>
            <a:r>
              <a:rPr lang="en-US" b="1" dirty="0">
                <a:solidFill>
                  <a:schemeClr val="tx1"/>
                </a:solidFill>
              </a:rPr>
              <a:t>Random Forest </a:t>
            </a:r>
            <a:r>
              <a:rPr lang="en-US" dirty="0">
                <a:solidFill>
                  <a:schemeClr val="tx1"/>
                </a:solidFill>
              </a:rPr>
              <a:t>and </a:t>
            </a:r>
            <a:r>
              <a:rPr lang="en-US" b="1" dirty="0">
                <a:solidFill>
                  <a:schemeClr val="tx1"/>
                </a:solidFill>
              </a:rPr>
              <a:t>Decision Tree</a:t>
            </a:r>
            <a:r>
              <a:rPr lang="en-US" dirty="0">
                <a:solidFill>
                  <a:schemeClr val="tx1"/>
                </a:solidFill>
              </a:rPr>
              <a:t>.</a:t>
            </a:r>
          </a:p>
          <a:p>
            <a:pPr algn="just"/>
            <a:r>
              <a:rPr lang="en-US" dirty="0">
                <a:solidFill>
                  <a:schemeClr val="tx1"/>
                </a:solidFill>
              </a:rPr>
              <a:t>The models were tested using three dataset strategies: </a:t>
            </a:r>
          </a:p>
          <a:p>
            <a:pPr algn="just"/>
            <a:r>
              <a:rPr lang="en-US" b="1" dirty="0">
                <a:solidFill>
                  <a:schemeClr val="tx1"/>
                </a:solidFill>
              </a:rPr>
              <a:t>Full Dataset: </a:t>
            </a:r>
            <a:r>
              <a:rPr lang="en-US" dirty="0">
                <a:solidFill>
                  <a:schemeClr val="tx1"/>
                </a:solidFill>
              </a:rPr>
              <a:t>Kept all 15 traffic classes.</a:t>
            </a:r>
          </a:p>
          <a:p>
            <a:pPr algn="just"/>
            <a:r>
              <a:rPr lang="en-US" b="1" dirty="0">
                <a:solidFill>
                  <a:schemeClr val="tx1"/>
                </a:solidFill>
              </a:rPr>
              <a:t>Capped Dataset: </a:t>
            </a:r>
            <a:r>
              <a:rPr lang="en-US" dirty="0">
                <a:solidFill>
                  <a:schemeClr val="tx1"/>
                </a:solidFill>
              </a:rPr>
              <a:t>Limited large classes to 10,000 records.</a:t>
            </a:r>
          </a:p>
          <a:p>
            <a:pPr algn="just"/>
            <a:r>
              <a:rPr lang="en-US" b="1" dirty="0">
                <a:solidFill>
                  <a:schemeClr val="tx1"/>
                </a:solidFill>
              </a:rPr>
              <a:t>Controlled Dataset: </a:t>
            </a:r>
            <a:r>
              <a:rPr lang="en-US" dirty="0">
                <a:solidFill>
                  <a:schemeClr val="tx1"/>
                </a:solidFill>
              </a:rPr>
              <a:t>Removed classes with fewer than 1,000 records.</a:t>
            </a:r>
          </a:p>
          <a:p>
            <a:pPr algn="just"/>
            <a:r>
              <a:rPr lang="en-US" dirty="0">
                <a:solidFill>
                  <a:schemeClr val="tx1"/>
                </a:solidFill>
              </a:rPr>
              <a:t>Baseline and balanced versions were tested using </a:t>
            </a:r>
            <a:r>
              <a:rPr lang="en-US" sz="2400" i="1" dirty="0" err="1">
                <a:solidFill>
                  <a:schemeClr val="tx1"/>
                </a:solidFill>
              </a:rPr>
              <a:t>class_weight</a:t>
            </a:r>
            <a:r>
              <a:rPr lang="en-US" sz="2400" i="1" dirty="0">
                <a:solidFill>
                  <a:schemeClr val="tx1"/>
                </a:solidFill>
              </a:rPr>
              <a:t>=“balanced”</a:t>
            </a:r>
            <a:r>
              <a:rPr lang="en-US" sz="2400" dirty="0">
                <a:solidFill>
                  <a:schemeClr val="tx1"/>
                </a:solidFill>
              </a:rPr>
              <a:t> </a:t>
            </a:r>
            <a:r>
              <a:rPr lang="en-US" dirty="0">
                <a:solidFill>
                  <a:schemeClr val="tx1"/>
                </a:solidFill>
              </a:rPr>
              <a:t>to improve minority-class detection.</a:t>
            </a:r>
          </a:p>
          <a:p>
            <a:pPr algn="just"/>
            <a:r>
              <a:rPr lang="en-US" dirty="0">
                <a:solidFill>
                  <a:schemeClr val="tx1"/>
                </a:solidFill>
              </a:rPr>
              <a:t>Decision Tree and Random Forest were trained on the raw datasets, while Logistic Regression used scaled data because it is sensitive to feature magnitude (Nugroho et al., 2018).</a:t>
            </a:r>
          </a:p>
          <a:p>
            <a:pPr algn="just"/>
            <a:r>
              <a:rPr lang="en-US" dirty="0">
                <a:solidFill>
                  <a:schemeClr val="tx1"/>
                </a:solidFill>
              </a:rPr>
              <a:t>After the first results, two tuned Decision Tree versions were also tested. The final tuned version used:</a:t>
            </a:r>
          </a:p>
          <a:p>
            <a:pPr algn="ctr"/>
            <a:r>
              <a:rPr lang="en-US" sz="2000" i="1" dirty="0">
                <a:solidFill>
                  <a:schemeClr val="tx1"/>
                </a:solidFill>
              </a:rPr>
              <a:t>criterion = “</a:t>
            </a:r>
            <a:r>
              <a:rPr lang="en-US" sz="2000" i="1" dirty="0" err="1">
                <a:solidFill>
                  <a:schemeClr val="tx1"/>
                </a:solidFill>
              </a:rPr>
              <a:t>log_loss</a:t>
            </a:r>
            <a:r>
              <a:rPr lang="en-US" sz="2000" i="1" dirty="0">
                <a:solidFill>
                  <a:schemeClr val="tx1"/>
                </a:solidFill>
              </a:rPr>
              <a:t>”</a:t>
            </a:r>
          </a:p>
          <a:p>
            <a:pPr algn="ctr"/>
            <a:r>
              <a:rPr lang="en-US" sz="2000" i="1" dirty="0" err="1">
                <a:solidFill>
                  <a:schemeClr val="tx1"/>
                </a:solidFill>
              </a:rPr>
              <a:t>class_weight</a:t>
            </a:r>
            <a:r>
              <a:rPr lang="en-US" sz="2000" i="1" dirty="0">
                <a:solidFill>
                  <a:schemeClr val="tx1"/>
                </a:solidFill>
              </a:rPr>
              <a:t> = “balanced”</a:t>
            </a:r>
          </a:p>
          <a:p>
            <a:pPr algn="ctr"/>
            <a:r>
              <a:rPr lang="en-US" sz="2000" i="1" dirty="0" err="1">
                <a:solidFill>
                  <a:schemeClr val="tx1"/>
                </a:solidFill>
              </a:rPr>
              <a:t>min_samples_split</a:t>
            </a:r>
            <a:r>
              <a:rPr lang="en-US" sz="2000" i="1" dirty="0">
                <a:solidFill>
                  <a:schemeClr val="tx1"/>
                </a:solidFill>
              </a:rPr>
              <a:t> = 3</a:t>
            </a:r>
          </a:p>
          <a:p>
            <a:pPr algn="ctr"/>
            <a:r>
              <a:rPr lang="en-US" sz="2000" i="1" dirty="0" err="1">
                <a:solidFill>
                  <a:schemeClr val="tx1"/>
                </a:solidFill>
              </a:rPr>
              <a:t>random_state</a:t>
            </a:r>
            <a:r>
              <a:rPr lang="en-US" sz="2000" i="1" dirty="0">
                <a:solidFill>
                  <a:schemeClr val="tx1"/>
                </a:solidFill>
              </a:rPr>
              <a:t> = 42</a:t>
            </a:r>
          </a:p>
        </p:txBody>
      </p:sp>
      <p:sp>
        <p:nvSpPr>
          <p:cNvPr id="8" name="Text Placeholder 4">
            <a:extLst>
              <a:ext uri="{FF2B5EF4-FFF2-40B4-BE49-F238E27FC236}">
                <a16:creationId xmlns:a16="http://schemas.microsoft.com/office/drawing/2014/main" id="{9983B177-5CEB-A5A3-9EBD-A40E726C2D0D}"/>
              </a:ext>
            </a:extLst>
          </p:cNvPr>
          <p:cNvSpPr txBox="1">
            <a:spLocks/>
          </p:cNvSpPr>
          <p:nvPr/>
        </p:nvSpPr>
        <p:spPr>
          <a:xfrm>
            <a:off x="22421124" y="14468658"/>
            <a:ext cx="10048874" cy="746355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Models were evaluated using accuracy, precision, recall, macro F1-score, weighted F1-score, confusion matrix and training time (Müller and Guido, 2017).</a:t>
            </a:r>
          </a:p>
          <a:p>
            <a:pPr algn="just"/>
            <a:r>
              <a:rPr lang="en-US" dirty="0">
                <a:solidFill>
                  <a:schemeClr val="tx1"/>
                </a:solidFill>
              </a:rPr>
              <a:t>Accuracy alone was not enough because the dataset was highly imbalanced. Macro F1-score was important because it gives equal weight to each class, including rare attacks.</a:t>
            </a:r>
          </a:p>
          <a:p>
            <a:pPr algn="just"/>
            <a:r>
              <a:rPr lang="en-US" dirty="0">
                <a:solidFill>
                  <a:schemeClr val="tx1"/>
                </a:solidFill>
              </a:rPr>
              <a:t>Logistic Regression was the weakest model. It struggled with minority attack classes and had higher training time.</a:t>
            </a:r>
          </a:p>
          <a:p>
            <a:pPr algn="just"/>
            <a:r>
              <a:rPr lang="en-US" dirty="0">
                <a:solidFill>
                  <a:schemeClr val="tx1"/>
                </a:solidFill>
              </a:rPr>
              <a:t>Random Forest achieved strong results, but it was heavier and less suitable for the lightweight objective.</a:t>
            </a:r>
          </a:p>
          <a:p>
            <a:pPr algn="just"/>
            <a:r>
              <a:rPr lang="en-US" dirty="0">
                <a:solidFill>
                  <a:schemeClr val="tx1"/>
                </a:solidFill>
              </a:rPr>
              <a:t>Decision Tree gave the best balance between classification performance, runtime efficiency, interpretability and attack coverage. </a:t>
            </a:r>
          </a:p>
          <a:p>
            <a:pPr algn="just"/>
            <a:r>
              <a:rPr lang="en-US" dirty="0">
                <a:solidFill>
                  <a:schemeClr val="tx1"/>
                </a:solidFill>
              </a:rPr>
              <a:t>The final selected model was </a:t>
            </a:r>
            <a:r>
              <a:rPr lang="en-US" b="1" dirty="0">
                <a:solidFill>
                  <a:schemeClr val="tx1"/>
                </a:solidFill>
              </a:rPr>
              <a:t>Decision Tree – Full Dataset Balanced Tuned 2.</a:t>
            </a:r>
          </a:p>
          <a:p>
            <a:pPr algn="just"/>
            <a:r>
              <a:rPr lang="en-US" dirty="0">
                <a:solidFill>
                  <a:schemeClr val="tx1"/>
                </a:solidFill>
              </a:rPr>
              <a:t>This model kept all traffic classes and performed strongly on the main classes, while still detecting some rare attacks such as Heartbleed, Infiltration and SQL Injection</a:t>
            </a:r>
            <a:r>
              <a:rPr lang="en-US" sz="2000" dirty="0">
                <a:solidFill>
                  <a:schemeClr val="tx1"/>
                </a:solidFill>
              </a:rPr>
              <a:t>.</a:t>
            </a:r>
          </a:p>
        </p:txBody>
      </p:sp>
      <p:pic>
        <p:nvPicPr>
          <p:cNvPr id="14" name="Picture 13">
            <a:extLst>
              <a:ext uri="{FF2B5EF4-FFF2-40B4-BE49-F238E27FC236}">
                <a16:creationId xmlns:a16="http://schemas.microsoft.com/office/drawing/2014/main" id="{0DA51407-45C4-3DA7-FA70-D31ABB2843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971033" y="21908743"/>
            <a:ext cx="8891903" cy="7117465"/>
          </a:xfrm>
          <a:prstGeom prst="rect">
            <a:avLst/>
          </a:prstGeom>
        </p:spPr>
      </p:pic>
      <p:sp>
        <p:nvSpPr>
          <p:cNvPr id="10" name="Text Placeholder 4">
            <a:extLst>
              <a:ext uri="{FF2B5EF4-FFF2-40B4-BE49-F238E27FC236}">
                <a16:creationId xmlns:a16="http://schemas.microsoft.com/office/drawing/2014/main" id="{9C2CD7EE-7990-9502-DD2C-3B95F92DA7C0}"/>
              </a:ext>
            </a:extLst>
          </p:cNvPr>
          <p:cNvSpPr txBox="1">
            <a:spLocks/>
          </p:cNvSpPr>
          <p:nvPr/>
        </p:nvSpPr>
        <p:spPr>
          <a:xfrm>
            <a:off x="33382622" y="6439621"/>
            <a:ext cx="10048874" cy="5309123"/>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A </a:t>
            </a:r>
            <a:r>
              <a:rPr lang="en-US" dirty="0" err="1">
                <a:solidFill>
                  <a:schemeClr val="tx1"/>
                </a:solidFill>
              </a:rPr>
              <a:t>Streamlit</a:t>
            </a:r>
            <a:r>
              <a:rPr lang="en-US" dirty="0">
                <a:solidFill>
                  <a:schemeClr val="tx1"/>
                </a:solidFill>
              </a:rPr>
              <a:t> dashboard prototype was created to demonstrate how the final model could be reused outside the notebook (</a:t>
            </a:r>
            <a:r>
              <a:rPr lang="en-US" dirty="0" err="1">
                <a:solidFill>
                  <a:schemeClr val="tx1"/>
                </a:solidFill>
              </a:rPr>
              <a:t>Streamlit</a:t>
            </a:r>
            <a:r>
              <a:rPr lang="en-US" dirty="0">
                <a:solidFill>
                  <a:schemeClr val="tx1"/>
                </a:solidFill>
              </a:rPr>
              <a:t>, 2024).</a:t>
            </a:r>
          </a:p>
          <a:p>
            <a:pPr algn="just"/>
            <a:r>
              <a:rPr lang="en-US" dirty="0">
                <a:solidFill>
                  <a:schemeClr val="tx1"/>
                </a:solidFill>
              </a:rPr>
              <a:t>The final Decision Tree model was saved using </a:t>
            </a:r>
            <a:r>
              <a:rPr lang="en-US" dirty="0" err="1">
                <a:solidFill>
                  <a:schemeClr val="tx1"/>
                </a:solidFill>
              </a:rPr>
              <a:t>Joblib</a:t>
            </a:r>
            <a:r>
              <a:rPr lang="en-US" dirty="0">
                <a:solidFill>
                  <a:schemeClr val="tx1"/>
                </a:solidFill>
              </a:rPr>
              <a:t> together with the selected 39 features, label encoder, and trained model file (McQuaid, 2026d).</a:t>
            </a:r>
          </a:p>
          <a:p>
            <a:pPr algn="just"/>
            <a:r>
              <a:rPr lang="en-US" dirty="0">
                <a:solidFill>
                  <a:schemeClr val="tx1"/>
                </a:solidFill>
              </a:rPr>
              <a:t>The dashboard allows the user to upload a CSV file with network flow records, check if the required features are present, run traffic predictions, view benign and suspicious traffic summaries, download the prediction results and view feature importance.</a:t>
            </a:r>
          </a:p>
          <a:p>
            <a:pPr algn="just"/>
            <a:r>
              <a:rPr lang="en-US" dirty="0">
                <a:solidFill>
                  <a:schemeClr val="tx1"/>
                </a:solidFill>
              </a:rPr>
              <a:t>This is still a prototype, not a full production IDS. It does not capture live network packets directly yet. Future work would require live traffic extraction, more testing, newer data and model retraining.</a:t>
            </a:r>
          </a:p>
        </p:txBody>
      </p:sp>
      <p:pic>
        <p:nvPicPr>
          <p:cNvPr id="13" name="Picture 12">
            <a:extLst>
              <a:ext uri="{FF2B5EF4-FFF2-40B4-BE49-F238E27FC236}">
                <a16:creationId xmlns:a16="http://schemas.microsoft.com/office/drawing/2014/main" id="{53FC90C0-12E5-1275-3202-CA513ACABFE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3755535" y="11594463"/>
            <a:ext cx="9293216" cy="3713043"/>
          </a:xfrm>
          <a:prstGeom prst="rect">
            <a:avLst/>
          </a:prstGeom>
        </p:spPr>
      </p:pic>
      <p:pic>
        <p:nvPicPr>
          <p:cNvPr id="17" name="Picture 16">
            <a:extLst>
              <a:ext uri="{FF2B5EF4-FFF2-40B4-BE49-F238E27FC236}">
                <a16:creationId xmlns:a16="http://schemas.microsoft.com/office/drawing/2014/main" id="{E091D09D-3C67-B5A2-76AE-4CE2FE13DDD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3754050" y="15636954"/>
            <a:ext cx="9293216" cy="3914331"/>
          </a:xfrm>
          <a:prstGeom prst="rect">
            <a:avLst/>
          </a:prstGeom>
        </p:spPr>
      </p:pic>
      <p:sp>
        <p:nvSpPr>
          <p:cNvPr id="19" name="TextBox 18">
            <a:extLst>
              <a:ext uri="{FF2B5EF4-FFF2-40B4-BE49-F238E27FC236}">
                <a16:creationId xmlns:a16="http://schemas.microsoft.com/office/drawing/2014/main" id="{1E19198E-4066-35E1-1945-951D3D7385D1}"/>
              </a:ext>
            </a:extLst>
          </p:cNvPr>
          <p:cNvSpPr txBox="1"/>
          <p:nvPr/>
        </p:nvSpPr>
        <p:spPr>
          <a:xfrm>
            <a:off x="36629750" y="15318342"/>
            <a:ext cx="3503716" cy="307777"/>
          </a:xfrm>
          <a:prstGeom prst="rect">
            <a:avLst/>
          </a:prstGeom>
          <a:noFill/>
        </p:spPr>
        <p:txBody>
          <a:bodyPr wrap="none" rtlCol="0">
            <a:spAutoFit/>
          </a:bodyPr>
          <a:lstStyle/>
          <a:p>
            <a:r>
              <a:rPr lang="en-IE" sz="1400" i="1" dirty="0">
                <a:latin typeface="Times New Roman" panose="02020603050405020304" pitchFamily="18" charset="0"/>
                <a:cs typeface="Times New Roman" panose="02020603050405020304" pitchFamily="18" charset="0"/>
              </a:rPr>
              <a:t>Initial </a:t>
            </a:r>
            <a:r>
              <a:rPr lang="en-IE" sz="1400" i="1" dirty="0" err="1">
                <a:latin typeface="Times New Roman" panose="02020603050405020304" pitchFamily="18" charset="0"/>
                <a:cs typeface="Times New Roman" panose="02020603050405020304" pitchFamily="18" charset="0"/>
              </a:rPr>
              <a:t>Streamlit</a:t>
            </a:r>
            <a:r>
              <a:rPr lang="en-IE" sz="1400" i="1" dirty="0">
                <a:latin typeface="Times New Roman" panose="02020603050405020304" pitchFamily="18" charset="0"/>
                <a:cs typeface="Times New Roman" panose="02020603050405020304" pitchFamily="18" charset="0"/>
              </a:rPr>
              <a:t> IDS dashboard upload screen</a:t>
            </a:r>
          </a:p>
        </p:txBody>
      </p:sp>
      <p:sp>
        <p:nvSpPr>
          <p:cNvPr id="20" name="TextBox 19">
            <a:extLst>
              <a:ext uri="{FF2B5EF4-FFF2-40B4-BE49-F238E27FC236}">
                <a16:creationId xmlns:a16="http://schemas.microsoft.com/office/drawing/2014/main" id="{D134E12D-9076-D003-5302-67A468C2934B}"/>
              </a:ext>
            </a:extLst>
          </p:cNvPr>
          <p:cNvSpPr txBox="1"/>
          <p:nvPr/>
        </p:nvSpPr>
        <p:spPr>
          <a:xfrm>
            <a:off x="35515919" y="19533620"/>
            <a:ext cx="5731377"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Uploaded CSV preview, input preparation summary and prediction overview</a:t>
            </a:r>
          </a:p>
        </p:txBody>
      </p:sp>
      <p:pic>
        <p:nvPicPr>
          <p:cNvPr id="23" name="Picture 22">
            <a:extLst>
              <a:ext uri="{FF2B5EF4-FFF2-40B4-BE49-F238E27FC236}">
                <a16:creationId xmlns:a16="http://schemas.microsoft.com/office/drawing/2014/main" id="{C26A5C31-26FF-D3B0-E0A0-5FC88843E1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3754050" y="19853256"/>
            <a:ext cx="9355112" cy="4234537"/>
          </a:xfrm>
          <a:prstGeom prst="rect">
            <a:avLst/>
          </a:prstGeom>
        </p:spPr>
      </p:pic>
      <p:sp>
        <p:nvSpPr>
          <p:cNvPr id="24" name="TextBox 23">
            <a:extLst>
              <a:ext uri="{FF2B5EF4-FFF2-40B4-BE49-F238E27FC236}">
                <a16:creationId xmlns:a16="http://schemas.microsoft.com/office/drawing/2014/main" id="{5D528063-B6C9-8D0A-AC8D-778F53D1AA31}"/>
              </a:ext>
            </a:extLst>
          </p:cNvPr>
          <p:cNvSpPr txBox="1"/>
          <p:nvPr/>
        </p:nvSpPr>
        <p:spPr>
          <a:xfrm>
            <a:off x="36187584" y="24065683"/>
            <a:ext cx="4426148"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Prediction output table and predicted traffic class summary</a:t>
            </a:r>
          </a:p>
        </p:txBody>
      </p:sp>
      <p:sp>
        <p:nvSpPr>
          <p:cNvPr id="26" name="TextBox 25">
            <a:extLst>
              <a:ext uri="{FF2B5EF4-FFF2-40B4-BE49-F238E27FC236}">
                <a16:creationId xmlns:a16="http://schemas.microsoft.com/office/drawing/2014/main" id="{8C5AF9B8-6917-393D-C27C-9926F826EFF8}"/>
              </a:ext>
            </a:extLst>
          </p:cNvPr>
          <p:cNvSpPr txBox="1"/>
          <p:nvPr/>
        </p:nvSpPr>
        <p:spPr>
          <a:xfrm>
            <a:off x="33566814" y="25108679"/>
            <a:ext cx="9680489" cy="3554819"/>
          </a:xfrm>
          <a:prstGeom prst="rect">
            <a:avLst/>
          </a:prstGeom>
          <a:noFill/>
        </p:spPr>
        <p:txBody>
          <a:bodyPr wrap="square" rtlCol="0">
            <a:spAutoFit/>
          </a:bodyPr>
          <a:lstStyle/>
          <a:p>
            <a:pPr algn="just"/>
            <a:r>
              <a:rPr lang="en-IE" sz="2500" dirty="0">
                <a:latin typeface="Times New Roman" panose="02020603050405020304" pitchFamily="18" charset="0"/>
                <a:cs typeface="Times New Roman" panose="02020603050405020304" pitchFamily="18" charset="0"/>
              </a:rPr>
              <a:t>The project shows that a lightweight machine learning IDS can support the detection of benign and malicious network traffic using CICIDS2017. Decision Tree – Full Dataset Balanced Tuned 2 was selected as the final model because it offered the best balance between performance, runtime, interpretability and attack coverage. The </a:t>
            </a:r>
            <a:r>
              <a:rPr lang="en-IE" sz="2500" dirty="0" err="1">
                <a:latin typeface="Times New Roman" panose="02020603050405020304" pitchFamily="18" charset="0"/>
                <a:cs typeface="Times New Roman" panose="02020603050405020304" pitchFamily="18" charset="0"/>
              </a:rPr>
              <a:t>Streamlit</a:t>
            </a:r>
            <a:r>
              <a:rPr lang="en-IE" sz="2500" dirty="0">
                <a:latin typeface="Times New Roman" panose="02020603050405020304" pitchFamily="18" charset="0"/>
                <a:cs typeface="Times New Roman" panose="02020603050405020304" pitchFamily="18" charset="0"/>
              </a:rPr>
              <a:t> prototype showed how the saved model could be reused for traffic prediction and suspicious traffic summaries. However, the system is still a prototype and would need newer data, live traffic extraction, further testing and retraining before real-world use.</a:t>
            </a:r>
          </a:p>
        </p:txBody>
      </p:sp>
    </p:spTree>
    <p:extLst>
      <p:ext uri="{BB962C8B-B14F-4D97-AF65-F5344CB8AC3E}">
        <p14:creationId xmlns:p14="http://schemas.microsoft.com/office/powerpoint/2010/main" val="3160527046"/>
      </p:ext>
    </p:extLst>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3661</TotalTime>
  <Words>1539</Words>
  <Application>Microsoft Macintosh PowerPoint</Application>
  <PresentationFormat>Custom</PresentationFormat>
  <Paragraphs>67</Paragraphs>
  <Slides>1</Slides>
  <Notes>1</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36x48-Template-V2b</vt:lpstr>
      <vt:lpstr>1_Classic 3 Columns</vt:lpstr>
      <vt:lpstr>Classic - Wide Center</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Thiago Gonçalves</cp:lastModifiedBy>
  <cp:revision>138</cp:revision>
  <dcterms:created xsi:type="dcterms:W3CDTF">2012-02-03T19:11:35Z</dcterms:created>
  <dcterms:modified xsi:type="dcterms:W3CDTF">2026-05-27T21:21:42Z</dcterms:modified>
</cp:coreProperties>
</file>